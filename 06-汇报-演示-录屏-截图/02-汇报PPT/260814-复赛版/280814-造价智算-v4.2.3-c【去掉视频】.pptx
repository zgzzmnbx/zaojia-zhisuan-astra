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7"/>
  </p:notesMasterIdLst>
  <p:handoutMasterIdLst>
    <p:handoutMasterId r:id="rId18"/>
  </p:handoutMasterIdLst>
  <p:sldIdLst>
    <p:sldId id="318" r:id="rId2"/>
    <p:sldId id="426" r:id="rId3"/>
    <p:sldId id="257" r:id="rId4"/>
    <p:sldId id="405" r:id="rId5"/>
    <p:sldId id="259" r:id="rId6"/>
    <p:sldId id="260" r:id="rId7"/>
    <p:sldId id="410" r:id="rId8"/>
    <p:sldId id="263" r:id="rId9"/>
    <p:sldId id="265" r:id="rId10"/>
    <p:sldId id="266" r:id="rId11"/>
    <p:sldId id="264" r:id="rId12"/>
    <p:sldId id="268" r:id="rId13"/>
    <p:sldId id="267" r:id="rId14"/>
    <p:sldId id="269" r:id="rId15"/>
    <p:sldId id="425" r:id="rId16"/>
  </p:sldIdLst>
  <p:sldSz cx="12192000" cy="6858000"/>
  <p:notesSz cx="7104063" cy="10234613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CC7F5"/>
    <a:srgbClr val="054D63"/>
    <a:srgbClr val="000C22"/>
    <a:srgbClr val="000E21"/>
    <a:srgbClr val="000A1E"/>
    <a:srgbClr val="06556E"/>
    <a:srgbClr val="00152B"/>
    <a:srgbClr val="000B1B"/>
    <a:srgbClr val="076583"/>
    <a:srgbClr val="076F8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540" autoAdjust="0"/>
    <p:restoredTop sz="86388" autoAdjust="0"/>
  </p:normalViewPr>
  <p:slideViewPr>
    <p:cSldViewPr snapToGrid="0">
      <p:cViewPr varScale="1">
        <p:scale>
          <a:sx n="105" d="100"/>
          <a:sy n="105" d="100"/>
        </p:scale>
        <p:origin x="1339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25" d="100"/>
        <a:sy n="125" d="100"/>
      </p:scale>
      <p:origin x="0" y="-165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zh-CN" altLang="en-US" smtClean="0"/>
              <a:t>2026/10/26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</a:lstStyle>
          <a:p>
            <a:fld id="{D2A48B96-639E-45A3-A0BA-2464DFDB1FAA}" type="datetimeFigureOut">
              <a:rPr lang="zh-CN" altLang="en-US" smtClean="0"/>
              <a:pPr/>
              <a:t>2026/10/26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1584" y="1279287"/>
            <a:ext cx="6140577" cy="34540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0375" y="4925254"/>
            <a:ext cx="5682996" cy="402975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</a:lstStyle>
          <a:p>
            <a:fld id="{A6837353-30EB-4A48-80EB-173D804AEFBD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微软雅黑" panose="020B0503020204020204" pitchFamily="34" charset="-122"/>
      </a:defRPr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81013" y="1279525"/>
            <a:ext cx="6140450" cy="34544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i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pPr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0479956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81013" y="1279525"/>
            <a:ext cx="6140450" cy="34544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zh-CN"/>
              <a:t>各位领导、各位评委，大家好。</a:t>
            </a:r>
          </a:p>
          <a:p>
            <a:r>
              <a:rPr lang="zh-CN" altLang="zh-CN"/>
              <a:t>请看屏幕右边的表格，平平无奇——但在造价成果里，只要一个数字说不清来历，整份报告，就没人敢签字。</a:t>
            </a:r>
          </a:p>
          <a:p>
            <a:r>
              <a:rPr lang="zh-CN" altLang="zh-CN"/>
              <a:t>为此，我们团队带来的作品是 </a:t>
            </a:r>
            <a:r>
              <a:rPr lang="zh-CN" altLang="zh-CN" b="1"/>
              <a:t>《造价智算——工程造价辅助智能体》</a:t>
            </a:r>
            <a:r>
              <a:rPr lang="zh-CN" altLang="zh-CN"/>
              <a:t>。</a:t>
            </a:r>
          </a:p>
          <a:p>
            <a:r>
              <a:rPr lang="zh-CN" altLang="zh-CN"/>
              <a:t>首先呢，不打算先介绍它有多少功能。想先回答一个更重要的问题：</a:t>
            </a:r>
            <a:br>
              <a:rPr lang="zh-CN" altLang="zh-CN"/>
            </a:br>
            <a:r>
              <a:rPr lang="zh-CN" altLang="zh-CN" b="1"/>
              <a:t>AI 能不能多给答案不重要；重要的是证据不足时，它能不能管住自己，它能不能保持克制——不去瞎编。</a:t>
            </a:r>
            <a:endParaRPr lang="zh-CN" altLang="zh-CN"/>
          </a:p>
          <a:p>
            <a:r>
              <a:rPr lang="zh-CN" altLang="zh-CN"/>
              <a:t>我们的目标，是把造价规则、知识和经验组织成可复用、可扩展的专业智能能力，服务更多造价场景。</a:t>
            </a:r>
          </a:p>
          <a:p>
            <a:r>
              <a:rPr lang="zh-CN" altLang="zh-CN"/>
              <a:t>过渡句：那么，一个真实造价任务是什么样的呢？</a:t>
            </a:r>
          </a:p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pPr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0305251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81013" y="1279525"/>
            <a:ext cx="6140450" cy="34544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zh-CN"/>
              <a:t>造价其实（它）真正耗时的，往往不是公式计算，难的是</a:t>
            </a:r>
            <a:r>
              <a:rPr lang="zh-CN" altLang="zh-CN" b="1"/>
              <a:t>最后每个造价员都要回答这么一个问题</a:t>
            </a:r>
            <a:r>
              <a:rPr lang="zh-CN" altLang="zh-CN"/>
              <a:t>。</a:t>
            </a:r>
          </a:p>
          <a:p>
            <a:r>
              <a:rPr lang="zh-CN" altLang="zh-CN"/>
              <a:t>[停半秒，看评委。]</a:t>
            </a:r>
            <a:br>
              <a:rPr lang="zh-CN" altLang="zh-CN"/>
            </a:br>
            <a:r>
              <a:rPr lang="zh-CN" altLang="zh-CN" b="1"/>
              <a:t>这个数字……从哪里来？为什么是它？</a:t>
            </a:r>
            <a:endParaRPr lang="zh-CN" altLang="zh-CN"/>
          </a:p>
          <a:p>
            <a:r>
              <a:rPr lang="zh-CN" altLang="zh-CN"/>
              <a:t>为了回答这一个</a:t>
            </a:r>
            <a:r>
              <a:rPr lang="zh-CN" altLang="zh-CN" b="1"/>
              <a:t>灵魂拷问</a:t>
            </a:r>
            <a:r>
              <a:rPr lang="zh-CN" altLang="zh-CN"/>
              <a:t>，造价员要</a:t>
            </a:r>
            <a:r>
              <a:rPr lang="zh-CN" altLang="zh-CN" b="1"/>
              <a:t>翻标准、查历史、核口径</a:t>
            </a:r>
            <a:r>
              <a:rPr lang="zh-CN" altLang="zh-CN"/>
              <a:t>。但这些依据，</a:t>
            </a:r>
            <a:r>
              <a:rPr lang="zh-CN" altLang="zh-CN" b="1"/>
              <a:t>一半散在文件里</a:t>
            </a:r>
            <a:r>
              <a:rPr lang="zh-CN" altLang="zh-CN"/>
              <a:t>，</a:t>
            </a:r>
            <a:r>
              <a:rPr lang="zh-CN" altLang="zh-CN" b="1"/>
              <a:t>一半长在老师傅的脑子里</a:t>
            </a:r>
            <a:r>
              <a:rPr lang="zh-CN" altLang="zh-CN"/>
              <a:t>。项目一换，从头再查一遍；人一换，再从头教一遍。</a:t>
            </a:r>
          </a:p>
          <a:p>
            <a:r>
              <a:rPr lang="zh-CN" altLang="zh-CN"/>
              <a:t>团队就从这个最</a:t>
            </a:r>
            <a:r>
              <a:rPr lang="zh-CN" altLang="zh-CN" b="1"/>
              <a:t>磨人</a:t>
            </a:r>
            <a:r>
              <a:rPr lang="zh-CN" altLang="zh-CN"/>
              <a:t>的环节下手。（把反复寻找和核验，变成组织可以复用的专业能力。）</a:t>
            </a:r>
          </a:p>
          <a:p>
            <a:r>
              <a:rPr lang="zh-CN" altLang="zh-CN"/>
              <a:t>过渡句：为此，</a:t>
            </a:r>
            <a:r>
              <a:rPr lang="zh-CN" altLang="zh-CN" b="1"/>
              <a:t>造价智算</a:t>
            </a:r>
            <a:r>
              <a:rPr lang="zh-CN" altLang="zh-CN"/>
              <a:t> 选择了从</a:t>
            </a:r>
            <a:r>
              <a:rPr lang="zh-CN" altLang="zh-CN" b="1"/>
              <a:t>长输管道勘察测量</a:t>
            </a:r>
            <a:r>
              <a:rPr lang="zh-CN" altLang="zh-CN"/>
              <a:t>这个</a:t>
            </a:r>
            <a:r>
              <a:rPr lang="zh-CN" altLang="zh-CN" b="1"/>
              <a:t>业务点</a:t>
            </a:r>
            <a:r>
              <a:rPr lang="zh-CN" altLang="zh-CN"/>
              <a:t>来</a:t>
            </a:r>
            <a:r>
              <a:rPr lang="zh-CN" altLang="zh-CN" b="1"/>
              <a:t>切入</a:t>
            </a:r>
            <a:r>
              <a:rPr lang="zh-CN" altLang="zh-CN"/>
              <a:t>。</a:t>
            </a:r>
          </a:p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pPr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2319580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zh-CN"/>
              <a:t>怎么切入呢？先说我们的基本判断：</a:t>
            </a:r>
            <a:br>
              <a:rPr lang="zh-CN" altLang="zh-CN"/>
            </a:br>
            <a:r>
              <a:rPr lang="zh-CN" altLang="zh-CN" b="1"/>
              <a:t>想要达到AI 原生，绝不是在旧业务旁边加一个聊天框，而是把一项工作，按照三链重新组织</a:t>
            </a:r>
            <a:endParaRPr lang="zh-CN" altLang="zh-CN"/>
          </a:p>
          <a:p>
            <a:r>
              <a:rPr lang="zh-CN" altLang="zh-CN"/>
              <a:t>(三个词就够：Task，就是这一项工作；Skill，是干这活的专业能力；三条链，）</a:t>
            </a:r>
            <a:br>
              <a:rPr lang="zh-CN" altLang="zh-CN"/>
            </a:br>
            <a:r>
              <a:rPr lang="zh-CN" altLang="zh-CN"/>
              <a:t>我们先定义一件工作，把这个 </a:t>
            </a:r>
            <a:r>
              <a:rPr lang="zh-CN" altLang="zh-CN" b="1"/>
              <a:t>Task</a:t>
            </a:r>
            <a:r>
              <a:rPr lang="zh-CN" altLang="zh-CN"/>
              <a:t> 放在中心，不断沉淀</a:t>
            </a:r>
            <a:r>
              <a:rPr lang="zh-CN" altLang="zh-CN" b="1"/>
              <a:t>专业能力Skill</a:t>
            </a:r>
            <a:r>
              <a:rPr lang="zh-CN" altLang="zh-CN"/>
              <a:t>，同时</a:t>
            </a:r>
            <a:r>
              <a:rPr lang="zh-CN" altLang="zh-CN" b="1"/>
              <a:t>接通三条链</a:t>
            </a:r>
            <a:r>
              <a:rPr lang="zh-CN" altLang="zh-CN"/>
              <a:t>（业务、数据、角色）：简单说就是把</a:t>
            </a:r>
            <a:r>
              <a:rPr lang="zh-CN" altLang="zh-CN" b="1"/>
              <a:t>活怎么干、数从哪来、谁负责</a:t>
            </a:r>
            <a:r>
              <a:rPr lang="zh-CN" altLang="zh-CN"/>
              <a:t> 这三件事儿拉通。</a:t>
            </a:r>
            <a:br>
              <a:rPr lang="zh-CN" altLang="zh-CN"/>
            </a:br>
            <a:r>
              <a:rPr lang="zh-CN" altLang="zh-CN"/>
              <a:t>(完成了业务从输入到交付，数据从标准和规则到任务证据，角色从编制、智能体走到复核和管理的协同链接)</a:t>
            </a:r>
          </a:p>
          <a:p>
            <a:r>
              <a:rPr lang="zh-CN" altLang="zh-CN"/>
              <a:t>过渡句：那么，三条链怎样协同？我们有张</a:t>
            </a:r>
            <a:r>
              <a:rPr lang="zh-CN" altLang="zh-CN" b="1"/>
              <a:t>系统架构图</a:t>
            </a:r>
            <a:r>
              <a:rPr lang="zh-CN" altLang="zh-CN"/>
              <a:t>。</a:t>
            </a:r>
          </a:p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pPr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9499731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zh-CN"/>
              <a:t>这是</a:t>
            </a:r>
            <a:r>
              <a:rPr lang="zh-CN" altLang="zh-CN" b="1"/>
              <a:t>系统架构图</a:t>
            </a:r>
            <a:r>
              <a:rPr lang="zh-CN" altLang="zh-CN"/>
              <a:t>。我不逐层念——只看中间：所有能力都围着这一项 Task 转，通过</a:t>
            </a:r>
            <a:r>
              <a:rPr lang="zh-CN" altLang="zh-CN" b="1"/>
              <a:t>多个入口</a:t>
            </a:r>
            <a:r>
              <a:rPr lang="zh-CN" altLang="zh-CN"/>
              <a:t>，</a:t>
            </a:r>
            <a:r>
              <a:rPr lang="zh-CN" altLang="zh-CN" b="1"/>
              <a:t>成果、风险、复核轨迹</a:t>
            </a:r>
            <a:r>
              <a:rPr lang="zh-CN" altLang="zh-CN"/>
              <a:t>，最后都回到这里，一笔一笔留痕。</a:t>
            </a:r>
          </a:p>
          <a:p>
            <a:r>
              <a:rPr lang="zh-CN" altLang="zh-CN"/>
              <a:t>过渡句：接下来，那系统凭什么给出数字呢？？</a:t>
            </a:r>
          </a:p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pPr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6284591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81013" y="1279525"/>
            <a:ext cx="6140450" cy="34544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zh-CN"/>
              <a:t>我们的技术原则只有一句：</a:t>
            </a:r>
            <a:br>
              <a:rPr lang="zh-CN" altLang="zh-CN"/>
            </a:br>
            <a:r>
              <a:rPr lang="zh-CN" altLang="zh-CN" b="1"/>
              <a:t>不猜价格，让规则自个儿，跑起来。</a:t>
            </a:r>
            <a:br>
              <a:rPr lang="zh-CN" altLang="zh-CN"/>
            </a:br>
            <a:r>
              <a:rPr lang="zh-CN" altLang="zh-CN"/>
              <a:t>关键数字，各走各的道：单价走</a:t>
            </a:r>
            <a:r>
              <a:rPr lang="zh-CN" altLang="zh-CN" b="1"/>
              <a:t>计价库</a:t>
            </a:r>
            <a:r>
              <a:rPr lang="zh-CN" altLang="zh-CN"/>
              <a:t>，系数匹配走</a:t>
            </a:r>
            <a:r>
              <a:rPr lang="zh-CN" altLang="zh-CN" b="1"/>
              <a:t>专业规则库</a:t>
            </a:r>
            <a:r>
              <a:rPr lang="zh-CN" altLang="zh-CN"/>
              <a:t>；</a:t>
            </a:r>
            <a:br>
              <a:rPr lang="zh-CN" altLang="zh-CN"/>
            </a:br>
            <a:r>
              <a:rPr lang="zh-CN" altLang="zh-CN"/>
              <a:t>(规则能解决的，交给规则；解决不了的，系统不装懂，</a:t>
            </a:r>
            <a:r>
              <a:rPr lang="zh-CN" altLang="zh-CN" b="1"/>
              <a:t>标出来，等人来</a:t>
            </a:r>
            <a:r>
              <a:rPr lang="zh-CN" altLang="zh-CN"/>
              <a:t>。)</a:t>
            </a:r>
          </a:p>
          <a:p>
            <a:r>
              <a:rPr lang="zh-CN" altLang="zh-CN"/>
              <a:t>那这条边界怎么落地呢？</a:t>
            </a:r>
            <a:r>
              <a:rPr lang="zh-CN" altLang="zh-CN" b="1"/>
              <a:t>九个字</a:t>
            </a:r>
            <a:r>
              <a:rPr lang="zh-CN" altLang="zh-CN"/>
              <a:t>。</a:t>
            </a:r>
            <a:br>
              <a:rPr lang="zh-CN" altLang="zh-CN"/>
            </a:br>
            <a:r>
              <a:rPr lang="zh-CN" altLang="zh-CN" b="1"/>
              <a:t>规则裁决，模型解释，人工负责。</a:t>
            </a:r>
            <a:br>
              <a:rPr lang="zh-CN" altLang="zh-CN"/>
            </a:br>
            <a:r>
              <a:rPr lang="zh-CN" altLang="zh-CN"/>
              <a:t>AI 可以帮你把依据讲明白，但最后落笔确认的，目前必须是人。证据不足，系统就停下来——要保持使用大模型的克制，这不是保守，这是造价这行的规矩。</a:t>
            </a:r>
          </a:p>
          <a:p>
            <a:r>
              <a:rPr lang="zh-CN" altLang="zh-CN"/>
              <a:t>过渡句：下面，沿着同一项 Task，看这套边界怎样落进系统。</a:t>
            </a:r>
          </a:p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pPr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1266013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81013" y="1279525"/>
            <a:ext cx="6140450" cy="34544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zh-CN"/>
              <a:t>目前的结果。正式验收样例中，上千单元格和标准答案逐格比对，核心结果准确率达到 </a:t>
            </a:r>
            <a:r>
              <a:rPr lang="zh-CN" altLang="zh-CN" b="1"/>
              <a:t>99.2%</a:t>
            </a:r>
            <a:r>
              <a:rPr lang="zh-CN" altLang="zh-CN"/>
              <a:t> 。</a:t>
            </a:r>
            <a:br>
              <a:rPr lang="zh-CN" altLang="zh-CN"/>
            </a:br>
            <a:r>
              <a:rPr lang="zh-CN" altLang="zh-CN"/>
              <a:t>同时，可以交付：一份 Excel，</a:t>
            </a:r>
            <a:r>
              <a:rPr lang="zh-CN" altLang="zh-CN" b="1"/>
              <a:t>能继续核对</a:t>
            </a:r>
            <a:r>
              <a:rPr lang="zh-CN" altLang="zh-CN"/>
              <a:t>；一份 Word，</a:t>
            </a:r>
            <a:r>
              <a:rPr lang="zh-CN" altLang="zh-CN" b="1"/>
              <a:t>能正式归档</a:t>
            </a:r>
            <a:r>
              <a:rPr lang="zh-CN" altLang="zh-CN"/>
              <a:t>。</a:t>
            </a:r>
          </a:p>
          <a:p>
            <a:r>
              <a:rPr lang="zh-CN" altLang="zh-CN"/>
              <a:t>过渡句：当然了，但一项真正的岗位任务，不能只停在网页里。</a:t>
            </a:r>
          </a:p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pPr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6808363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81013" y="1279525"/>
            <a:ext cx="6140450" cy="34544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zh-CN"/>
              <a:t>过去，是人打开软件、找功能。</a:t>
            </a:r>
            <a:r>
              <a:rPr lang="zh-CN" altLang="zh-CN" b="1"/>
              <a:t>这一次，反过来</a:t>
            </a:r>
            <a:r>
              <a:rPr lang="zh-CN" altLang="zh-CN"/>
              <a:t>——任务去找人。</a:t>
            </a:r>
            <a:br>
              <a:rPr lang="zh-CN" altLang="zh-CN"/>
            </a:br>
            <a:r>
              <a:rPr lang="zh-CN" altLang="zh-CN"/>
              <a:t>造价任务通过 WeAct 或者飞书，派到</a:t>
            </a:r>
            <a:r>
              <a:rPr lang="zh-CN" altLang="zh-CN" b="1"/>
              <a:t>群</a:t>
            </a:r>
            <a:r>
              <a:rPr lang="zh-CN" altLang="zh-CN"/>
              <a:t>里 或者 </a:t>
            </a:r>
            <a:r>
              <a:rPr lang="zh-CN" altLang="zh-CN" b="1"/>
              <a:t>具体的人手</a:t>
            </a:r>
            <a:r>
              <a:rPr lang="zh-CN" altLang="zh-CN"/>
              <a:t>上：派发、领取、多人复核；任何一人退回，意见都带着原因，回到同一项 Task。</a:t>
            </a:r>
            <a:br>
              <a:rPr lang="zh-CN" altLang="zh-CN"/>
            </a:br>
            <a:r>
              <a:rPr lang="zh-CN" altLang="zh-CN"/>
              <a:t>所以，真正的分水岭，不是 AI 多聪明，</a:t>
            </a:r>
            <a:r>
              <a:rPr lang="zh-CN" altLang="zh-CN" b="1"/>
              <a:t>而是这项工作能不能进入组织协同，能不能真正的嵌入日常工作</a:t>
            </a:r>
            <a:r>
              <a:rPr lang="zh-CN" altLang="zh-CN"/>
              <a:t>。</a:t>
            </a:r>
          </a:p>
          <a:p>
            <a:r>
              <a:rPr lang="zh-CN" altLang="zh-CN"/>
              <a:t>过渡句：还有一个很现实的问题。价格算出来了，</a:t>
            </a:r>
            <a:r>
              <a:rPr lang="zh-CN" altLang="zh-CN" b="1"/>
              <a:t>造价员还是会问</a:t>
            </a:r>
            <a:r>
              <a:rPr lang="zh-CN" altLang="zh-CN"/>
              <a:t>：</a:t>
            </a:r>
            <a:r>
              <a:rPr lang="zh-CN" altLang="zh-CN" b="1"/>
              <a:t>依据在哪</a:t>
            </a:r>
            <a:r>
              <a:rPr lang="zh-CN" altLang="zh-CN"/>
              <a:t>？</a:t>
            </a:r>
          </a:p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pPr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1160744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81013" y="1279525"/>
            <a:ext cx="6140450" cy="34544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zh-CN"/>
              <a:t>所以我们又做了一个“问问智算”，来完成造价的知识问答的需求。</a:t>
            </a:r>
            <a:br>
              <a:rPr lang="zh-CN" altLang="zh-CN"/>
            </a:br>
            <a:r>
              <a:rPr lang="zh-CN" altLang="zh-CN"/>
              <a:t>同时，开了三个入口：（网页、普通飞书、企业 WeAct，简单说，后面demo演示会讲）。</a:t>
            </a:r>
            <a:br>
              <a:rPr lang="zh-CN" altLang="zh-CN"/>
            </a:br>
            <a:r>
              <a:rPr lang="zh-CN" altLang="zh-CN"/>
              <a:t>实现</a:t>
            </a:r>
            <a:r>
              <a:rPr lang="zh-CN" altLang="zh-CN" b="1"/>
              <a:t>人在哪工作，就在哪问依据</a:t>
            </a:r>
            <a:r>
              <a:rPr lang="zh-CN" altLang="zh-CN"/>
              <a:t>。</a:t>
            </a:r>
            <a:br>
              <a:rPr lang="zh-CN" altLang="zh-CN"/>
            </a:br>
            <a:r>
              <a:rPr lang="zh-CN" altLang="zh-CN"/>
              <a:t>（确保嵌入工作以后，专业能力出现在</a:t>
            </a:r>
            <a:r>
              <a:rPr lang="zh-CN" altLang="zh-CN" b="1"/>
              <a:t>能让人用的最顺手</a:t>
            </a:r>
            <a:r>
              <a:rPr lang="zh-CN" altLang="zh-CN"/>
              <a:t>地方中。）</a:t>
            </a:r>
            <a:br>
              <a:rPr lang="zh-CN" altLang="zh-CN"/>
            </a:br>
            <a:r>
              <a:rPr lang="zh-CN" altLang="zh-CN"/>
              <a:t>（可选：它只做一件事：解释依据——绝不碰程序的填价结果。）</a:t>
            </a:r>
          </a:p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pPr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6580105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81013" y="1279525"/>
            <a:ext cx="6140450" cy="34544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zh-CN"/>
              <a:t>过渡句：再看它怎样同时回答</a:t>
            </a:r>
            <a:r>
              <a:rPr lang="zh-CN" altLang="zh-CN" b="1"/>
              <a:t>创新性</a:t>
            </a:r>
            <a:r>
              <a:rPr lang="zh-CN" altLang="zh-CN"/>
              <a:t>和</a:t>
            </a:r>
            <a:r>
              <a:rPr lang="zh-CN" altLang="zh-CN" b="1"/>
              <a:t>完整性</a:t>
            </a:r>
            <a:r>
              <a:rPr lang="zh-CN" altLang="zh-CN"/>
              <a:t>。</a:t>
            </a:r>
          </a:p>
          <a:p>
            <a:endParaRPr lang="en-US" altLang="zh-CN"/>
          </a:p>
          <a:p>
            <a:r>
              <a:rPr lang="zh-CN" altLang="zh-CN"/>
              <a:t>专业 Skill、确定性规则、模型解释、人工闸门和组织入口，都在同一项 Task 中协同。从处理、复核到交付，这条真实业务链可以同时回答</a:t>
            </a:r>
            <a:r>
              <a:rPr lang="zh-CN" altLang="zh-CN" b="1"/>
              <a:t>创新性</a:t>
            </a:r>
            <a:r>
              <a:rPr lang="zh-CN" altLang="zh-CN"/>
              <a:t>和</a:t>
            </a:r>
            <a:r>
              <a:rPr lang="zh-CN" altLang="zh-CN" b="1"/>
              <a:t>完整性</a:t>
            </a:r>
            <a:r>
              <a:rPr lang="zh-CN" altLang="zh-CN"/>
              <a:t>。</a:t>
            </a:r>
          </a:p>
          <a:p>
            <a:r>
              <a:rPr lang="zh-CN" altLang="zh-CN"/>
              <a:t>比赛考的这两件事，我们的回答是同一句话——</a:t>
            </a:r>
          </a:p>
          <a:p>
            <a:r>
              <a:rPr lang="zh-CN" altLang="zh-CN"/>
              <a:t>创新，是把专业工作重新组织成 Task；完整，是让这一项 Task 从真实输入跑到正式交付，实现端到端跑通。</a:t>
            </a:r>
          </a:p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pPr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767655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81013" y="1279525"/>
            <a:ext cx="6140450" cy="34544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zh-CN"/>
              <a:t>目前，造价智算可以 实现从task到ai填价，到批量匹配、风险预警、报告生成、weact写作、嵌入日常工作环境。</a:t>
            </a:r>
            <a:r>
              <a:rPr lang="zh-CN" altLang="zh-CN" b="1"/>
              <a:t>全链条跑通</a:t>
            </a:r>
            <a:r>
              <a:rPr lang="zh-CN" altLang="zh-CN"/>
              <a:t>。</a:t>
            </a:r>
          </a:p>
          <a:p>
            <a:r>
              <a:rPr lang="zh-CN" altLang="zh-CN"/>
              <a:t>过渡句：逻辑大概这些。接下来不再解释——上真实系统。</a:t>
            </a:r>
            <a:br>
              <a:rPr lang="zh-CN" altLang="zh-CN"/>
            </a:br>
            <a:r>
              <a:rPr lang="zh-CN" altLang="zh-CN"/>
              <a:t>[切换到软件。]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pPr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2939872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81013" y="1279525"/>
            <a:ext cx="6140450" cy="34544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zh-CN"/>
              <a:t>过渡句：一项任务跑通以后，我们才有资格谈</a:t>
            </a:r>
            <a:r>
              <a:rPr lang="zh-CN" altLang="zh-CN" b="1"/>
              <a:t>能力复制</a:t>
            </a:r>
            <a:r>
              <a:rPr lang="zh-CN" altLang="zh-CN"/>
              <a:t>。</a:t>
            </a:r>
          </a:p>
          <a:p>
            <a:endParaRPr lang="en-US" altLang="zh-CN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zh-CN"/>
              <a:t>进入新场景，把资料、规则、风险口径、成果模板和验收样例，封装成一个个专业 Skill。</a:t>
            </a:r>
            <a:br>
              <a:rPr lang="zh-CN" altLang="zh-CN"/>
            </a:br>
            <a:r>
              <a:rPr lang="zh-CN" altLang="zh-CN"/>
              <a:t>方法也只有一句：</a:t>
            </a:r>
            <a:r>
              <a:rPr lang="zh-CN" altLang="zh-CN" b="1"/>
              <a:t>懂造价的人定义规则，懂技术的人把规则变成能力</a:t>
            </a:r>
            <a:r>
              <a:rPr lang="zh-CN" altLang="zh-CN"/>
              <a:t>。</a:t>
            </a:r>
            <a:br>
              <a:rPr lang="zh-CN" altLang="zh-CN"/>
            </a:br>
            <a:r>
              <a:rPr lang="zh-CN" altLang="zh-CN"/>
              <a:t>有了这套方法和底座，以后，造价智算的业务范围可以</a:t>
            </a:r>
            <a:r>
              <a:rPr lang="zh-CN" altLang="zh-CN" b="1"/>
              <a:t>横向扩展到其他 专业</a:t>
            </a:r>
            <a:r>
              <a:rPr lang="zh-CN" altLang="zh-CN"/>
              <a:t>，</a:t>
            </a:r>
            <a:r>
              <a:rPr lang="zh-CN" altLang="zh-CN" b="1"/>
              <a:t>纵向可以纵深到 结算审核等</a:t>
            </a:r>
            <a:r>
              <a:rPr lang="zh-CN" altLang="zh-CN"/>
              <a:t>。</a:t>
            </a:r>
          </a:p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pPr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2391768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zh-CN"/>
              <a:t>今天，造价智算 验证了三件事儿：</a:t>
            </a:r>
            <a:br>
              <a:rPr lang="zh-CN" altLang="zh-CN"/>
            </a:br>
            <a:r>
              <a:rPr lang="zh-CN" altLang="zh-CN" b="1"/>
              <a:t>让标准走出文件，成为可执行的规则；</a:t>
            </a:r>
            <a:br>
              <a:rPr lang="zh-CN" altLang="zh-CN" b="1"/>
            </a:br>
            <a:r>
              <a:rPr lang="zh-CN" altLang="zh-CN" b="1"/>
              <a:t>让任务走出页面，嵌入真实的日常工作；</a:t>
            </a:r>
            <a:br>
              <a:rPr lang="zh-CN" altLang="zh-CN" b="1"/>
            </a:br>
            <a:r>
              <a:rPr lang="zh-CN" altLang="zh-CN" b="1"/>
              <a:t>让 AI 走出对话框，成为有任务、有边界、可管理的工程造价辅助智能体。</a:t>
            </a:r>
            <a:endParaRPr lang="zh-CN" altLang="zh-CN"/>
          </a:p>
          <a:p>
            <a:r>
              <a:rPr lang="zh-CN" altLang="zh-CN"/>
              <a:t>（勘察测量造价计算，只是它的第一项工作；对于，</a:t>
            </a:r>
            <a:r>
              <a:rPr lang="zh-CN" altLang="zh-CN" b="1"/>
              <a:t>工程造价数智员工----只是我们刚刚走出，第一公里。</a:t>
            </a:r>
            <a:r>
              <a:rPr lang="zh-CN" altLang="zh-CN"/>
              <a:t>）</a:t>
            </a:r>
          </a:p>
          <a:p>
            <a:r>
              <a:rPr lang="zh-CN" altLang="zh-CN"/>
              <a:t>开场我问了一个问题：证据不足时，AI 能不能管住自己。现在各位看到了：</a:t>
            </a:r>
            <a:br>
              <a:rPr lang="zh-CN" altLang="zh-CN"/>
            </a:br>
            <a:r>
              <a:rPr lang="zh-CN" altLang="zh-CN" b="1"/>
              <a:t>它会的，它干；它不会的，他协助人干</a:t>
            </a:r>
            <a:r>
              <a:rPr lang="zh-CN" altLang="zh-CN"/>
              <a:t>。</a:t>
            </a:r>
            <a:br>
              <a:rPr lang="zh-CN" altLang="zh-CN"/>
            </a:br>
            <a:r>
              <a:rPr lang="zh-CN" altLang="zh-CN"/>
              <a:t>(刚才那句"</a:t>
            </a:r>
            <a:r>
              <a:rPr lang="zh-CN" altLang="zh-CN" b="1"/>
              <a:t>懂造价的人定义规则，懂技术的人把规则变成能力</a:t>
            </a:r>
            <a:r>
              <a:rPr lang="zh-CN" altLang="zh-CN"/>
              <a:t>"——我们</a:t>
            </a:r>
            <a:r>
              <a:rPr lang="zh-CN" altLang="zh-CN" b="1"/>
              <a:t>坚信</a:t>
            </a:r>
            <a:r>
              <a:rPr lang="zh-CN" altLang="zh-CN"/>
              <a:t>，</a:t>
            </a:r>
            <a:r>
              <a:rPr lang="zh-CN" altLang="zh-CN" b="1"/>
              <a:t>以后啊</a:t>
            </a:r>
            <a:r>
              <a:rPr lang="zh-CN" altLang="zh-CN"/>
              <a:t>，</a:t>
            </a:r>
            <a:r>
              <a:rPr lang="zh-CN" altLang="zh-CN" b="1"/>
              <a:t>他们就是一类人</a:t>
            </a:r>
            <a:r>
              <a:rPr lang="zh-CN" altLang="zh-CN"/>
              <a:t>。)</a:t>
            </a:r>
          </a:p>
          <a:p>
            <a:r>
              <a:rPr lang="zh-CN" altLang="zh-CN"/>
              <a:t>第一项工作，我们已经跑通。</a:t>
            </a:r>
            <a:br>
              <a:rPr lang="zh-CN" altLang="zh-CN"/>
            </a:br>
            <a:r>
              <a:rPr lang="zh-CN" altLang="zh-CN" b="1"/>
              <a:t>第一公里，刚刚开始。</a:t>
            </a:r>
            <a:r>
              <a:rPr lang="zh-CN" altLang="zh-CN"/>
              <a:t> </a:t>
            </a:r>
          </a:p>
          <a:p>
            <a:r>
              <a:rPr lang="zh-CN" altLang="zh-CN"/>
              <a:t>谢谢各位评委。</a:t>
            </a:r>
          </a:p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pPr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905052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  <a:t>2026/10/26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>
      <p:transition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  <a:t>2026/10/26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>
      <p:transition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  <a:t>2026/10/26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>
      <p:transition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  <a:t>2026/10/26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>
      <p:transition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186774" y="1778438"/>
            <a:ext cx="4873574" cy="823912"/>
          </a:xfrm>
        </p:spPr>
        <p:txBody>
          <a:bodyPr anchor="ctr" anchorCtr="0"/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1186774" y="2665379"/>
            <a:ext cx="4873574" cy="352428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256938" y="1778438"/>
            <a:ext cx="4897576" cy="823912"/>
          </a:xfrm>
        </p:spPr>
        <p:txBody>
          <a:bodyPr anchor="ctr" anchorCtr="0"/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256938" y="2665379"/>
            <a:ext cx="4897576" cy="352428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  <a:t>2026/10/26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>
      <p:transition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  <a:t>2026/10/26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>
      <p:transition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  <a:t>2026/10/26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>
      <p:transition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4165349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457201"/>
            <a:ext cx="6172200" cy="54038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4165349" cy="3811588"/>
          </a:xfrm>
        </p:spPr>
        <p:txBody>
          <a:bodyPr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  <a:t>2026/10/26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>
      <p:transition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  <a:t>2026/10/26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>
      <p:transition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838200" y="365125"/>
            <a:ext cx="10515600" cy="58118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  <a:t>2026/10/26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>
      <p:transition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>
      <p:transition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</a:lstStyle>
          <a:p>
            <a:fld id="{82F288E0-7875-42C4-84C8-98DBBD3BF4D2}" type="datetimeFigureOut">
              <a:rPr lang="zh-CN" altLang="en-US" smtClean="0"/>
              <a:pPr/>
              <a:t>2026/10/26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</a:lstStyle>
          <a:p>
            <a:fld id="{7D9BB5D0-35E4-459D-AEF3-FE4D7C45CC1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60" r:id="rId11"/>
  </p:sldLayoutIdLst>
  <mc:AlternateContent xmlns:mc="http://schemas.openxmlformats.org/markup-compatibility/2006" xmlns:p14="http://schemas.microsoft.com/office/powerpoint/2010/main">
    <mc:Choice Requires="p14">
      <p:transition/>
    </mc:Choice>
    <mc:Fallback xmlns="">
      <p:transition/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微软雅黑" panose="020B0503020204020204" pitchFamily="34" charset="-122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微软雅黑" panose="020B0503020204020204" pitchFamily="34" charset="-122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微软雅黑" panose="020B0503020204020204" pitchFamily="34" charset="-122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微软雅黑" panose="020B0503020204020204" pitchFamily="34" charset="-122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微软雅黑" panose="020B0503020204020204" pitchFamily="34" charset="-122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微软雅黑" panose="020B0503020204020204" pitchFamily="34" charset="-122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microsoft.com/office/2007/relationships/hdphoto" Target="../media/hdphoto1.wdp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microsoft.com/office/2007/relationships/hdphoto" Target="../media/hdphoto2.wdp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43DBCD-3838-57B9-95BA-C1B75A7C07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>
            <a:extLst>
              <a:ext uri="{FF2B5EF4-FFF2-40B4-BE49-F238E27FC236}">
                <a16:creationId xmlns:a16="http://schemas.microsoft.com/office/drawing/2014/main" id="{877D205C-08CF-7C72-C96C-D5359A2BCBA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26686" cy="6821261"/>
          </a:xfrm>
          <a:prstGeom prst="rect">
            <a:avLst/>
          </a:prstGeom>
        </p:spPr>
      </p:pic>
      <p:sp>
        <p:nvSpPr>
          <p:cNvPr id="8" name="Docer搜索：半想象现实   http://chn.docer.com/works/?userid=199927538">
            <a:extLst>
              <a:ext uri="{FF2B5EF4-FFF2-40B4-BE49-F238E27FC236}">
                <a16:creationId xmlns:a16="http://schemas.microsoft.com/office/drawing/2014/main" id="{4135D9D7-0269-6CDE-8163-F327077266AC}"/>
              </a:ext>
            </a:extLst>
          </p:cNvPr>
          <p:cNvSpPr txBox="1"/>
          <p:nvPr/>
        </p:nvSpPr>
        <p:spPr>
          <a:xfrm>
            <a:off x="663343" y="4258492"/>
            <a:ext cx="5773743" cy="1289905"/>
          </a:xfrm>
          <a:prstGeom prst="rect">
            <a:avLst/>
          </a:prstGeom>
          <a:noFill/>
          <a:ln w="3175">
            <a:noFill/>
            <a:prstDash val="solid"/>
          </a:ln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6000" b="1">
                <a:blipFill dpi="0" rotWithShape="1">
                  <a:blip r:embed="rId4"/>
                  <a:srcRect/>
                  <a:stretch>
                    <a:fillRect/>
                  </a:stretch>
                </a:blipFill>
              </a:defRPr>
            </a:lvl1pPr>
          </a:lstStyle>
          <a:p>
            <a:pPr lvl="0" algn="l">
              <a:lnSpc>
                <a:spcPct val="150000"/>
              </a:lnSpc>
              <a:defRPr/>
            </a:pPr>
            <a:r>
              <a:rPr lang="zh-CN" altLang="en-US" sz="1800" dirty="0">
                <a:solidFill>
                  <a:srgbClr val="FDFDFD"/>
                </a:solidFill>
                <a:latin typeface="+mn-ea"/>
                <a:cs typeface="+mn-ea"/>
                <a:sym typeface="+mn-lt"/>
              </a:rPr>
              <a:t>团</a:t>
            </a:r>
            <a:r>
              <a:rPr lang="en-US" altLang="zh-CN" sz="1800" dirty="0">
                <a:solidFill>
                  <a:srgbClr val="FDFDFD"/>
                </a:solidFill>
                <a:latin typeface="+mn-ea"/>
                <a:cs typeface="+mn-ea"/>
                <a:sym typeface="+mn-lt"/>
              </a:rPr>
              <a:t> </a:t>
            </a:r>
            <a:r>
              <a:rPr lang="zh-CN" altLang="en-US" sz="1800" dirty="0">
                <a:solidFill>
                  <a:srgbClr val="FDFDFD"/>
                </a:solidFill>
                <a:latin typeface="+mn-ea"/>
                <a:cs typeface="+mn-ea"/>
                <a:sym typeface="+mn-lt"/>
              </a:rPr>
              <a:t>队</a:t>
            </a:r>
            <a:r>
              <a:rPr lang="en-US" altLang="zh-CN" sz="1800" dirty="0">
                <a:solidFill>
                  <a:srgbClr val="FDFDFD"/>
                </a:solidFill>
                <a:latin typeface="+mn-ea"/>
                <a:cs typeface="+mn-ea"/>
                <a:sym typeface="+mn-lt"/>
              </a:rPr>
              <a:t>  </a:t>
            </a:r>
            <a:r>
              <a:rPr lang="zh-CN" altLang="en-US" sz="1800" dirty="0">
                <a:solidFill>
                  <a:srgbClr val="FDFDFD"/>
                </a:solidFill>
                <a:latin typeface="+mn-ea"/>
                <a:cs typeface="+mn-ea"/>
                <a:sym typeface="+mn-lt"/>
              </a:rPr>
              <a:t>名</a:t>
            </a:r>
            <a:r>
              <a:rPr lang="en-US" altLang="zh-CN" sz="1800" dirty="0">
                <a:solidFill>
                  <a:srgbClr val="FDFDFD"/>
                </a:solidFill>
                <a:latin typeface="+mn-ea"/>
                <a:cs typeface="+mn-ea"/>
                <a:sym typeface="+mn-lt"/>
              </a:rPr>
              <a:t> </a:t>
            </a:r>
            <a:r>
              <a:rPr lang="zh-CN" altLang="en-US" sz="1800">
                <a:solidFill>
                  <a:srgbClr val="FDFDFD"/>
                </a:solidFill>
                <a:latin typeface="+mn-ea"/>
                <a:cs typeface="+mn-ea"/>
                <a:sym typeface="+mn-lt"/>
              </a:rPr>
              <a:t>称：</a:t>
            </a:r>
            <a:r>
              <a:rPr lang="zh-CN" altLang="en-US" sz="1800">
                <a:solidFill>
                  <a:srgbClr val="3DC3FC"/>
                </a:solidFill>
                <a:latin typeface="+mn-ea"/>
                <a:cs typeface="+mn-ea"/>
                <a:sym typeface="+mn-lt"/>
              </a:rPr>
              <a:t>造价智算队</a:t>
            </a:r>
            <a:r>
              <a:rPr lang="en-US" altLang="zh-CN" sz="1800">
                <a:solidFill>
                  <a:srgbClr val="FDFDFD"/>
                </a:solidFill>
                <a:latin typeface="+mn-ea"/>
                <a:cs typeface="+mn-ea"/>
                <a:sym typeface="+mn-lt"/>
              </a:rPr>
              <a:t>                                                                </a:t>
            </a:r>
            <a:endParaRPr lang="en-US" altLang="zh-CN" sz="1800" dirty="0">
              <a:solidFill>
                <a:srgbClr val="FDFDFD"/>
              </a:solidFill>
              <a:latin typeface="+mn-ea"/>
              <a:cs typeface="+mn-ea"/>
              <a:sym typeface="+mn-lt"/>
            </a:endParaRPr>
          </a:p>
          <a:p>
            <a:pPr lvl="0" algn="l">
              <a:lnSpc>
                <a:spcPct val="150000"/>
              </a:lnSpc>
              <a:defRPr/>
            </a:pPr>
            <a:r>
              <a:rPr lang="zh-CN" altLang="en-US" sz="1800" dirty="0">
                <a:solidFill>
                  <a:srgbClr val="FDFDFD"/>
                </a:solidFill>
                <a:latin typeface="+mn-ea"/>
                <a:cs typeface="+mn-ea"/>
                <a:sym typeface="+mn-lt"/>
              </a:rPr>
              <a:t>团</a:t>
            </a:r>
            <a:r>
              <a:rPr lang="en-US" altLang="zh-CN" sz="1800" dirty="0">
                <a:solidFill>
                  <a:srgbClr val="FDFDFD"/>
                </a:solidFill>
                <a:latin typeface="+mn-ea"/>
                <a:cs typeface="+mn-ea"/>
                <a:sym typeface="+mn-lt"/>
              </a:rPr>
              <a:t> </a:t>
            </a:r>
            <a:r>
              <a:rPr lang="zh-CN" altLang="en-US" sz="1800" dirty="0">
                <a:solidFill>
                  <a:srgbClr val="FDFDFD"/>
                </a:solidFill>
                <a:latin typeface="+mn-ea"/>
                <a:cs typeface="+mn-ea"/>
                <a:sym typeface="+mn-lt"/>
              </a:rPr>
              <a:t>队</a:t>
            </a:r>
            <a:r>
              <a:rPr lang="en-US" altLang="zh-CN" sz="1800" dirty="0">
                <a:solidFill>
                  <a:srgbClr val="FDFDFD"/>
                </a:solidFill>
                <a:latin typeface="+mn-ea"/>
                <a:cs typeface="+mn-ea"/>
                <a:sym typeface="+mn-lt"/>
              </a:rPr>
              <a:t>  </a:t>
            </a:r>
            <a:r>
              <a:rPr lang="zh-CN" altLang="en-US" sz="1800" dirty="0">
                <a:solidFill>
                  <a:srgbClr val="FDFDFD"/>
                </a:solidFill>
                <a:latin typeface="+mn-ea"/>
                <a:cs typeface="+mn-ea"/>
                <a:sym typeface="+mn-lt"/>
              </a:rPr>
              <a:t>成</a:t>
            </a:r>
            <a:r>
              <a:rPr lang="en-US" altLang="zh-CN" sz="1800" dirty="0">
                <a:solidFill>
                  <a:srgbClr val="FDFDFD"/>
                </a:solidFill>
                <a:latin typeface="+mn-ea"/>
                <a:cs typeface="+mn-ea"/>
                <a:sym typeface="+mn-lt"/>
              </a:rPr>
              <a:t> </a:t>
            </a:r>
            <a:r>
              <a:rPr lang="zh-CN" altLang="en-US" sz="1800">
                <a:solidFill>
                  <a:srgbClr val="FDFDFD"/>
                </a:solidFill>
                <a:latin typeface="+mn-ea"/>
                <a:cs typeface="+mn-ea"/>
                <a:sym typeface="+mn-lt"/>
              </a:rPr>
              <a:t>员：</a:t>
            </a:r>
            <a:r>
              <a:rPr lang="zh-CN" altLang="en-US" sz="1800">
                <a:solidFill>
                  <a:srgbClr val="3DC3FC"/>
                </a:solidFill>
                <a:latin typeface="+mn-ea"/>
                <a:cs typeface="+mn-ea"/>
                <a:sym typeface="+mn-lt"/>
              </a:rPr>
              <a:t>曹雄、石萌、康亚光、李洪全、钱冬冬</a:t>
            </a:r>
            <a:endParaRPr lang="zh-CN" altLang="en-US" sz="1800" dirty="0">
              <a:solidFill>
                <a:srgbClr val="3DC3FC"/>
              </a:solidFill>
              <a:latin typeface="+mn-ea"/>
              <a:cs typeface="+mn-ea"/>
              <a:sym typeface="+mn-lt"/>
            </a:endParaRPr>
          </a:p>
          <a:p>
            <a:pPr lvl="0" algn="l">
              <a:lnSpc>
                <a:spcPct val="150000"/>
              </a:lnSpc>
              <a:defRPr/>
            </a:pPr>
            <a:r>
              <a:rPr lang="zh-CN" altLang="en-US" sz="1800" dirty="0">
                <a:solidFill>
                  <a:srgbClr val="FDFDFD"/>
                </a:solidFill>
                <a:latin typeface="+mn-ea"/>
                <a:cs typeface="+mn-ea"/>
                <a:sym typeface="+mn-lt"/>
              </a:rPr>
              <a:t>申 报  赛 </a:t>
            </a:r>
            <a:r>
              <a:rPr lang="zh-CN" altLang="en-US" sz="1800">
                <a:solidFill>
                  <a:srgbClr val="FDFDFD"/>
                </a:solidFill>
                <a:latin typeface="+mn-ea"/>
                <a:cs typeface="+mn-ea"/>
                <a:sym typeface="+mn-lt"/>
              </a:rPr>
              <a:t>道：</a:t>
            </a:r>
            <a:r>
              <a:rPr lang="zh-CN" altLang="en-US" sz="1800">
                <a:solidFill>
                  <a:srgbClr val="3DC3FC"/>
                </a:solidFill>
                <a:latin typeface="+mn-ea"/>
                <a:cs typeface="+mn-ea"/>
                <a:sym typeface="+mn-lt"/>
              </a:rPr>
              <a:t>桌面办公助手创新赛道</a:t>
            </a:r>
            <a:endParaRPr lang="en-US" altLang="zh-CN" sz="1800" dirty="0">
              <a:solidFill>
                <a:srgbClr val="3DC3FC"/>
              </a:solidFill>
              <a:latin typeface="+mn-ea"/>
              <a:cs typeface="+mn-ea"/>
              <a:sym typeface="+mn-lt"/>
            </a:endParaRPr>
          </a:p>
        </p:txBody>
      </p: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E166C690-C25E-42E2-41E8-D9C935EBD8DA}"/>
              </a:ext>
            </a:extLst>
          </p:cNvPr>
          <p:cNvCxnSpPr/>
          <p:nvPr/>
        </p:nvCxnSpPr>
        <p:spPr>
          <a:xfrm flipV="1">
            <a:off x="663343" y="6114052"/>
            <a:ext cx="5400000" cy="10795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4" name="组合 3">
            <a:extLst>
              <a:ext uri="{FF2B5EF4-FFF2-40B4-BE49-F238E27FC236}">
                <a16:creationId xmlns:a16="http://schemas.microsoft.com/office/drawing/2014/main" id="{B92D993F-AE94-BD8E-9452-CD49F9AB148F}"/>
              </a:ext>
            </a:extLst>
          </p:cNvPr>
          <p:cNvGrpSpPr>
            <a:grpSpLocks noChangeAspect="1"/>
          </p:cNvGrpSpPr>
          <p:nvPr/>
        </p:nvGrpSpPr>
        <p:grpSpPr>
          <a:xfrm>
            <a:off x="65314" y="155756"/>
            <a:ext cx="2232297" cy="724435"/>
            <a:chOff x="136" y="363"/>
            <a:chExt cx="3784" cy="1228"/>
          </a:xfrm>
        </p:grpSpPr>
        <p:pic>
          <p:nvPicPr>
            <p:cNvPr id="6" name="图片 5">
              <a:extLst>
                <a:ext uri="{FF2B5EF4-FFF2-40B4-BE49-F238E27FC236}">
                  <a16:creationId xmlns:a16="http://schemas.microsoft.com/office/drawing/2014/main" id="{3D180406-E246-FE63-807C-97D1249E4F3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00" r="100"/>
            <a:stretch>
              <a:fillRect/>
            </a:stretch>
          </p:blipFill>
          <p:spPr>
            <a:xfrm>
              <a:off x="136" y="363"/>
              <a:ext cx="2172" cy="1198"/>
            </a:xfrm>
            <a:prstGeom prst="rect">
              <a:avLst/>
            </a:prstGeom>
          </p:spPr>
        </p:pic>
        <p:pic>
          <p:nvPicPr>
            <p:cNvPr id="7" name="图片 6">
              <a:extLst>
                <a:ext uri="{FF2B5EF4-FFF2-40B4-BE49-F238E27FC236}">
                  <a16:creationId xmlns:a16="http://schemas.microsoft.com/office/drawing/2014/main" id="{E656D55C-C1B0-51D7-0F1A-D45A0712827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654" b="654"/>
            <a:stretch>
              <a:fillRect/>
            </a:stretch>
          </p:blipFill>
          <p:spPr>
            <a:xfrm>
              <a:off x="1752" y="541"/>
              <a:ext cx="2168" cy="105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05242466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CD06F0-7B18-FC92-1CEB-1A146CC818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ChatGPT Image 2026年6月29日 21_35_13 (2)">
            <a:extLst>
              <a:ext uri="{FF2B5EF4-FFF2-40B4-BE49-F238E27FC236}">
                <a16:creationId xmlns:a16="http://schemas.microsoft.com/office/drawing/2014/main" id="{C7B7DC01-E38D-E680-0C7F-717A6213DFEB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75" y="0"/>
            <a:ext cx="1218565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32148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01-造价智算-工程造价辅助智能体">
            <a:extLst>
              <a:ext uri="{FF2B5EF4-FFF2-40B4-BE49-F238E27FC236}">
                <a16:creationId xmlns:a16="http://schemas.microsoft.com/office/drawing/2014/main" id="{3CC7631B-9CF6-8502-8EC6-D1D04674B068}"/>
              </a:ext>
            </a:extLst>
          </p:cNvPr>
          <p:cNvPicPr>
            <a:picLocks noGrp="1" noChangeAspect="1"/>
          </p:cNvPicPr>
          <p:nvPr isPhoto="1"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75" y="0"/>
            <a:ext cx="12185650" cy="6858000"/>
          </a:xfrm>
          <a:prstGeom prst="rect">
            <a:avLst/>
          </a:prstGeom>
        </p:spPr>
      </p:pic>
      <p:sp>
        <p:nvSpPr>
          <p:cNvPr id="4" name="Docer搜索：半想象现实   http://chn.docer.com/works/?userid=199927538">
            <a:extLst>
              <a:ext uri="{FF2B5EF4-FFF2-40B4-BE49-F238E27FC236}">
                <a16:creationId xmlns:a16="http://schemas.microsoft.com/office/drawing/2014/main" id="{66AABF0B-34DD-3643-2B11-6A21109A8238}"/>
              </a:ext>
            </a:extLst>
          </p:cNvPr>
          <p:cNvSpPr txBox="1"/>
          <p:nvPr/>
        </p:nvSpPr>
        <p:spPr>
          <a:xfrm>
            <a:off x="145183" y="6229532"/>
            <a:ext cx="11833457" cy="336695"/>
          </a:xfrm>
          <a:prstGeom prst="rect">
            <a:avLst/>
          </a:prstGeom>
          <a:noFill/>
          <a:ln w="3175">
            <a:noFill/>
            <a:prstDash val="solid"/>
          </a:ln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6000" b="1">
                <a:blipFill dpi="0" rotWithShape="1">
                  <a:blip r:embed="rId5"/>
                  <a:srcRect/>
                  <a:stretch>
                    <a:fillRect/>
                  </a:stretch>
                </a:blipFill>
              </a:defRPr>
            </a:lvl1pPr>
          </a:lstStyle>
          <a:p>
            <a:pPr lvl="0" algn="l">
              <a:lnSpc>
                <a:spcPct val="150000"/>
              </a:lnSpc>
              <a:defRPr/>
            </a:pPr>
            <a:r>
              <a:rPr lang="zh-CN" altLang="en-US" sz="1200" b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+mn-ea"/>
                <a:sym typeface="+mn-lt"/>
              </a:rPr>
              <a:t>在造价成果里，只要这一个数字说不清来历，整份报告，就没人敢签字。     </a:t>
            </a:r>
            <a:r>
              <a:rPr lang="en-US" altLang="zh-CN" sz="1200" b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+mn-ea"/>
                <a:sym typeface="+mn-lt"/>
              </a:rPr>
              <a:t>AI </a:t>
            </a:r>
            <a:r>
              <a:rPr lang="zh-CN" altLang="en-US" sz="1200" b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+mn-ea"/>
                <a:sym typeface="+mn-lt"/>
              </a:rPr>
              <a:t>能不能多给答案不重要；而是证据不足时，它能不能管住自己，它能不能保持克制</a:t>
            </a:r>
            <a:r>
              <a:rPr lang="en-US" altLang="zh-CN" sz="1200" b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+mn-ea"/>
                <a:sym typeface="+mn-lt"/>
              </a:rPr>
              <a:t>,</a:t>
            </a:r>
            <a:r>
              <a:rPr lang="zh-CN" altLang="en-US" sz="1200" b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+mn-ea"/>
                <a:sym typeface="+mn-lt"/>
              </a:rPr>
              <a:t>不去瞎编。</a:t>
            </a:r>
            <a:endParaRPr lang="en-US" altLang="zh-CN" sz="1200" b="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cs typeface="+mn-ea"/>
              <a:sym typeface="+mn-lt"/>
            </a:endParaRPr>
          </a:p>
        </p:txBody>
      </p:sp>
      <p:sp>
        <p:nvSpPr>
          <p:cNvPr id="6" name="Docer搜索：半想象现实   http://chn.docer.com/works/?userid=199927538">
            <a:extLst>
              <a:ext uri="{FF2B5EF4-FFF2-40B4-BE49-F238E27FC236}">
                <a16:creationId xmlns:a16="http://schemas.microsoft.com/office/drawing/2014/main" id="{F3A1C12B-4B66-04E2-A8D3-7CD06C071E73}"/>
              </a:ext>
            </a:extLst>
          </p:cNvPr>
          <p:cNvSpPr txBox="1"/>
          <p:nvPr/>
        </p:nvSpPr>
        <p:spPr>
          <a:xfrm>
            <a:off x="145183" y="6484947"/>
            <a:ext cx="11833457" cy="336695"/>
          </a:xfrm>
          <a:prstGeom prst="rect">
            <a:avLst/>
          </a:prstGeom>
          <a:noFill/>
          <a:ln w="3175">
            <a:noFill/>
            <a:prstDash val="solid"/>
          </a:ln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6000" b="1">
                <a:blipFill dpi="0" rotWithShape="1">
                  <a:blip r:embed="rId5"/>
                  <a:srcRect/>
                  <a:stretch>
                    <a:fillRect/>
                  </a:stretch>
                </a:blipFill>
              </a:defRPr>
            </a:lvl1pPr>
          </a:lstStyle>
          <a:p>
            <a:pPr lvl="0" algn="l">
              <a:lnSpc>
                <a:spcPct val="150000"/>
              </a:lnSpc>
              <a:defRPr/>
            </a:pPr>
            <a:r>
              <a:rPr lang="zh-CN" altLang="en-US" sz="1200" b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+mn-ea"/>
                <a:sym typeface="+mn-lt"/>
              </a:rPr>
              <a:t>一个真实造价任务是什么样的呢？</a:t>
            </a:r>
            <a:endParaRPr lang="en-US" altLang="zh-CN" sz="1200" b="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572384427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03-一张表背后的知识链">
            <a:extLst>
              <a:ext uri="{FF2B5EF4-FFF2-40B4-BE49-F238E27FC236}">
                <a16:creationId xmlns:a16="http://schemas.microsoft.com/office/drawing/2014/main" id="{C2899325-158E-24E0-31B5-0BE809B48340}"/>
              </a:ext>
            </a:extLst>
          </p:cNvPr>
          <p:cNvPicPr>
            <a:picLocks noGrp="1" noChangeAspect="1"/>
          </p:cNvPicPr>
          <p:nvPr isPhoto="1"/>
        </p:nvPicPr>
        <p:blipFill>
          <a:blip r:embed="rId3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75" y="0"/>
            <a:ext cx="12185650" cy="6858000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A34FEB09-9B2C-9FD8-C277-EC6A66B66EA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1067" y="171489"/>
            <a:ext cx="7633734" cy="524768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D6D44CA5-BD7C-DB3A-4AFA-8D5DF4A7C56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1067" y="696257"/>
            <a:ext cx="4485714" cy="390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65159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03-AI原生一项Task接通三条链">
            <a:extLst>
              <a:ext uri="{FF2B5EF4-FFF2-40B4-BE49-F238E27FC236}">
                <a16:creationId xmlns:a16="http://schemas.microsoft.com/office/drawing/2014/main" id="{2FB20A8D-9B69-338C-0571-58CC0C513468}"/>
              </a:ext>
            </a:extLst>
          </p:cNvPr>
          <p:cNvPicPr>
            <a:picLocks noGrp="1" noChangeAspect="1"/>
          </p:cNvPicPr>
          <p:nvPr isPhoto="1"/>
        </p:nvPicPr>
        <p:blipFill>
          <a:blip r:embed="rId3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75" y="0"/>
            <a:ext cx="12185650" cy="6858000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FC7A3391-9D89-9D80-735D-965338E6F2AC}"/>
              </a:ext>
            </a:extLst>
          </p:cNvPr>
          <p:cNvSpPr/>
          <p:nvPr/>
        </p:nvSpPr>
        <p:spPr>
          <a:xfrm>
            <a:off x="219075" y="182880"/>
            <a:ext cx="7792720" cy="538480"/>
          </a:xfrm>
          <a:prstGeom prst="rect">
            <a:avLst/>
          </a:prstGeom>
          <a:solidFill>
            <a:srgbClr val="010D2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9889AFD-2FDE-A20B-5C4A-068037D830F7}"/>
              </a:ext>
            </a:extLst>
          </p:cNvPr>
          <p:cNvSpPr/>
          <p:nvPr/>
        </p:nvSpPr>
        <p:spPr>
          <a:xfrm>
            <a:off x="310515" y="172720"/>
            <a:ext cx="6878320" cy="5384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2800" b="1">
                <a:solidFill>
                  <a:schemeClr val="bg1"/>
                </a:solidFill>
              </a:rPr>
              <a:t>Ai</a:t>
            </a:r>
            <a:r>
              <a:rPr lang="zh-CN" altLang="en-US" sz="2800" b="1">
                <a:solidFill>
                  <a:schemeClr val="bg1"/>
                </a:solidFill>
              </a:rPr>
              <a:t>原生     一项 </a:t>
            </a:r>
            <a:r>
              <a:rPr lang="en-US" altLang="zh-CN" sz="2800" b="1">
                <a:solidFill>
                  <a:schemeClr val="bg1"/>
                </a:solidFill>
              </a:rPr>
              <a:t>TASK </a:t>
            </a:r>
            <a:r>
              <a:rPr lang="zh-CN" altLang="en-US" sz="2800" b="1">
                <a:solidFill>
                  <a:schemeClr val="bg1"/>
                </a:solidFill>
              </a:rPr>
              <a:t>， 接通三条链</a:t>
            </a: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B9AB7294-92C7-D821-FB98-721ABB256EC5}"/>
              </a:ext>
            </a:extLst>
          </p:cNvPr>
          <p:cNvCxnSpPr>
            <a:cxnSpLocks/>
          </p:cNvCxnSpPr>
          <p:nvPr/>
        </p:nvCxnSpPr>
        <p:spPr>
          <a:xfrm flipH="1">
            <a:off x="1715641" y="312420"/>
            <a:ext cx="82297" cy="269240"/>
          </a:xfrm>
          <a:prstGeom prst="line">
            <a:avLst/>
          </a:prstGeom>
          <a:ln w="38100">
            <a:solidFill>
              <a:srgbClr val="3CC7F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ocer搜索：半想象现实   http://chn.docer.com/works/?userid=199927538">
            <a:extLst>
              <a:ext uri="{FF2B5EF4-FFF2-40B4-BE49-F238E27FC236}">
                <a16:creationId xmlns:a16="http://schemas.microsoft.com/office/drawing/2014/main" id="{77C7592E-ECC2-E2BA-7E6F-C7881FD43B27}"/>
              </a:ext>
            </a:extLst>
          </p:cNvPr>
          <p:cNvSpPr txBox="1"/>
          <p:nvPr/>
        </p:nvSpPr>
        <p:spPr>
          <a:xfrm>
            <a:off x="145183" y="6490193"/>
            <a:ext cx="12043642" cy="336695"/>
          </a:xfrm>
          <a:prstGeom prst="rect">
            <a:avLst/>
          </a:prstGeom>
          <a:noFill/>
          <a:ln w="3175">
            <a:noFill/>
            <a:prstDash val="solid"/>
          </a:ln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6000" b="1">
                <a:blipFill dpi="0" rotWithShape="1">
                  <a:blip r:embed="rId4"/>
                  <a:srcRect/>
                  <a:stretch>
                    <a:fillRect/>
                  </a:stretch>
                </a:blipFill>
              </a:defRPr>
            </a:lvl1pPr>
          </a:lstStyle>
          <a:p>
            <a:pPr lvl="0" algn="l">
              <a:lnSpc>
                <a:spcPct val="150000"/>
              </a:lnSpc>
              <a:defRPr/>
            </a:pPr>
            <a:r>
              <a:rPr lang="zh-CN" altLang="en-US" sz="1200" b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+mn-ea"/>
                <a:sym typeface="+mn-lt"/>
              </a:rPr>
              <a:t>想要达到</a:t>
            </a:r>
            <a:r>
              <a:rPr lang="en-US" altLang="zh-CN" sz="1200" b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+mn-ea"/>
                <a:sym typeface="+mn-lt"/>
              </a:rPr>
              <a:t>AI </a:t>
            </a:r>
            <a:r>
              <a:rPr lang="zh-CN" altLang="en-US" sz="1200" b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+mn-ea"/>
                <a:sym typeface="+mn-lt"/>
              </a:rPr>
              <a:t>原生，绝不是在旧业务旁边加一个聊天框，而是把一项工作，按照三链重塑重新组织。 简单说就是把**活怎么干、数从哪来、谁负责** 这三件事儿拉通</a:t>
            </a:r>
            <a:endParaRPr lang="en-US" altLang="zh-CN" sz="1200" b="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446644726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04-系统架构一项Task调度专业能力">
            <a:extLst>
              <a:ext uri="{FF2B5EF4-FFF2-40B4-BE49-F238E27FC236}">
                <a16:creationId xmlns:a16="http://schemas.microsoft.com/office/drawing/2014/main" id="{A502FF1F-FEFF-2D6C-CA00-B2B96F768367}"/>
              </a:ext>
            </a:extLst>
          </p:cNvPr>
          <p:cNvPicPr>
            <a:picLocks noGrp="1" noChangeAspect="1"/>
          </p:cNvPicPr>
          <p:nvPr isPhoto="1"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75" y="0"/>
            <a:ext cx="12185650" cy="6858000"/>
          </a:xfrm>
          <a:prstGeom prst="rect">
            <a:avLst/>
          </a:prstGeom>
        </p:spPr>
      </p:pic>
      <p:sp>
        <p:nvSpPr>
          <p:cNvPr id="4" name="Docer搜索：半想象现实   http://chn.docer.com/works/?userid=199927538">
            <a:extLst>
              <a:ext uri="{FF2B5EF4-FFF2-40B4-BE49-F238E27FC236}">
                <a16:creationId xmlns:a16="http://schemas.microsoft.com/office/drawing/2014/main" id="{494A490E-AF12-9909-3155-6634F467C4F3}"/>
              </a:ext>
            </a:extLst>
          </p:cNvPr>
          <p:cNvSpPr txBox="1"/>
          <p:nvPr/>
        </p:nvSpPr>
        <p:spPr>
          <a:xfrm>
            <a:off x="145183" y="6490193"/>
            <a:ext cx="12043642" cy="336695"/>
          </a:xfrm>
          <a:prstGeom prst="rect">
            <a:avLst/>
          </a:prstGeom>
          <a:noFill/>
          <a:ln w="3175">
            <a:noFill/>
            <a:prstDash val="solid"/>
          </a:ln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6000" b="1">
                <a:blipFill dpi="0" rotWithShape="1">
                  <a:blip r:embed="rId5"/>
                  <a:srcRect/>
                  <a:stretch>
                    <a:fillRect/>
                  </a:stretch>
                </a:blipFill>
              </a:defRPr>
            </a:lvl1pPr>
          </a:lstStyle>
          <a:p>
            <a:pPr lvl="0" algn="l">
              <a:lnSpc>
                <a:spcPct val="150000"/>
              </a:lnSpc>
              <a:defRPr/>
            </a:pPr>
            <a:r>
              <a:rPr lang="zh-CN" altLang="en-US" sz="1200" b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+mn-ea"/>
                <a:sym typeface="+mn-lt"/>
              </a:rPr>
              <a:t>只看中间：所有能力都围着这一项 </a:t>
            </a:r>
            <a:r>
              <a:rPr lang="en-US" altLang="zh-CN" sz="1200" b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+mn-ea"/>
                <a:sym typeface="+mn-lt"/>
              </a:rPr>
              <a:t>Task </a:t>
            </a:r>
            <a:r>
              <a:rPr lang="zh-CN" altLang="en-US" sz="1200" b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+mn-ea"/>
                <a:sym typeface="+mn-lt"/>
              </a:rPr>
              <a:t>转，通过**多个入口**，**成果、风险、复核轨迹**，最后都回到这里，一笔一笔留痕。</a:t>
            </a:r>
            <a:endParaRPr lang="en-US" altLang="zh-CN" sz="1200" b="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5823610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08-规则裁决模型解释人工负责">
            <a:extLst>
              <a:ext uri="{FF2B5EF4-FFF2-40B4-BE49-F238E27FC236}">
                <a16:creationId xmlns:a16="http://schemas.microsoft.com/office/drawing/2014/main" id="{70EDBD88-FC20-EEA6-E43C-B83A412CD791}"/>
              </a:ext>
            </a:extLst>
          </p:cNvPr>
          <p:cNvPicPr>
            <a:picLocks noGrp="1" noChangeAspect="1"/>
          </p:cNvPicPr>
          <p:nvPr isPhoto="1"/>
        </p:nvPicPr>
        <p:blipFill>
          <a:blip r:embed="rId3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528"/>
          <a:stretch>
            <a:fillRect/>
          </a:stretch>
        </p:blipFill>
        <p:spPr>
          <a:xfrm>
            <a:off x="3175" y="104775"/>
            <a:ext cx="12185650" cy="6753225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0FABC582-996C-AE92-21C3-7513705BEF90}"/>
              </a:ext>
            </a:extLst>
          </p:cNvPr>
          <p:cNvSpPr/>
          <p:nvPr/>
        </p:nvSpPr>
        <p:spPr>
          <a:xfrm>
            <a:off x="2867429" y="213074"/>
            <a:ext cx="6457142" cy="826069"/>
          </a:xfrm>
          <a:prstGeom prst="rect">
            <a:avLst/>
          </a:prstGeom>
          <a:solidFill>
            <a:srgbClr val="010D2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68977AB0-F404-D8E4-548D-8B85F6ADD375}"/>
              </a:ext>
            </a:extLst>
          </p:cNvPr>
          <p:cNvSpPr/>
          <p:nvPr/>
        </p:nvSpPr>
        <p:spPr>
          <a:xfrm>
            <a:off x="3700608" y="597534"/>
            <a:ext cx="5309235" cy="5384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400" b="1">
                <a:solidFill>
                  <a:srgbClr val="3CC7F5"/>
                </a:solidFill>
              </a:rPr>
              <a:t>不猜价格，让规则自己跑起来</a:t>
            </a: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C039F173-E19E-D46E-F263-DED4F70F00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76952" y="232124"/>
            <a:ext cx="6447619" cy="447619"/>
          </a:xfrm>
          <a:prstGeom prst="rect">
            <a:avLst/>
          </a:prstGeom>
        </p:spPr>
      </p:pic>
      <p:sp>
        <p:nvSpPr>
          <p:cNvPr id="4" name="Docer搜索：半想象现实   http://chn.docer.com/works/?userid=199927538">
            <a:extLst>
              <a:ext uri="{FF2B5EF4-FFF2-40B4-BE49-F238E27FC236}">
                <a16:creationId xmlns:a16="http://schemas.microsoft.com/office/drawing/2014/main" id="{06A60C8F-DB59-22D6-7C86-ED2F16CEE059}"/>
              </a:ext>
            </a:extLst>
          </p:cNvPr>
          <p:cNvSpPr txBox="1"/>
          <p:nvPr/>
        </p:nvSpPr>
        <p:spPr>
          <a:xfrm>
            <a:off x="145183" y="6490193"/>
            <a:ext cx="12043642" cy="336695"/>
          </a:xfrm>
          <a:prstGeom prst="rect">
            <a:avLst/>
          </a:prstGeom>
          <a:noFill/>
          <a:ln w="3175">
            <a:noFill/>
            <a:prstDash val="solid"/>
          </a:ln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6000" b="1">
                <a:blipFill dpi="0" rotWithShape="1">
                  <a:blip r:embed="rId5"/>
                  <a:srcRect/>
                  <a:stretch>
                    <a:fillRect/>
                  </a:stretch>
                </a:blipFill>
              </a:defRPr>
            </a:lvl1pPr>
          </a:lstStyle>
          <a:p>
            <a:pPr lvl="0" algn="l">
              <a:lnSpc>
                <a:spcPct val="150000"/>
              </a:lnSpc>
              <a:defRPr/>
            </a:pPr>
            <a:r>
              <a:rPr lang="zh-CN" altLang="en-US" sz="1200" b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+mn-ea"/>
                <a:sym typeface="+mn-lt"/>
              </a:rPr>
              <a:t>那系统凭什么给出数字呢？？我们的技术原则只有一句：**不猜价格，让规则自己跑起来。**</a:t>
            </a:r>
            <a:endParaRPr lang="en-US" altLang="zh-CN" sz="1200" b="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5484869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07-核心结果经得起核验">
            <a:extLst>
              <a:ext uri="{FF2B5EF4-FFF2-40B4-BE49-F238E27FC236}">
                <a16:creationId xmlns:a16="http://schemas.microsoft.com/office/drawing/2014/main" id="{09D3094E-B175-5F10-390F-5628332BBBAB}"/>
              </a:ext>
            </a:extLst>
          </p:cNvPr>
          <p:cNvPicPr>
            <a:picLocks noGrp="1" noChangeAspect="1"/>
          </p:cNvPicPr>
          <p:nvPr isPhoto="1"/>
        </p:nvPicPr>
        <p:blipFill>
          <a:blip r:embed="rId3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75" y="0"/>
            <a:ext cx="12185650" cy="6858000"/>
          </a:xfrm>
          <a:prstGeom prst="rect">
            <a:avLst/>
          </a:prstGeom>
        </p:spPr>
      </p:pic>
      <p:sp>
        <p:nvSpPr>
          <p:cNvPr id="6" name="矩形: 圆角 5">
            <a:extLst>
              <a:ext uri="{FF2B5EF4-FFF2-40B4-BE49-F238E27FC236}">
                <a16:creationId xmlns:a16="http://schemas.microsoft.com/office/drawing/2014/main" id="{96EA31E6-834F-77E0-40F0-C92CD6E7BC45}"/>
              </a:ext>
            </a:extLst>
          </p:cNvPr>
          <p:cNvSpPr/>
          <p:nvPr/>
        </p:nvSpPr>
        <p:spPr>
          <a:xfrm>
            <a:off x="4900227" y="299395"/>
            <a:ext cx="6853623" cy="4625030"/>
          </a:xfrm>
          <a:prstGeom prst="roundRect">
            <a:avLst>
              <a:gd name="adj" fmla="val 2116"/>
            </a:avLst>
          </a:prstGeom>
          <a:solidFill>
            <a:srgbClr val="000B1B"/>
          </a:solidFill>
          <a:ln w="6350">
            <a:solidFill>
              <a:srgbClr val="076F8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C20079B2-0F8E-0BBF-40A1-BDBF45140137}"/>
              </a:ext>
            </a:extLst>
          </p:cNvPr>
          <p:cNvGrpSpPr/>
          <p:nvPr/>
        </p:nvGrpSpPr>
        <p:grpSpPr>
          <a:xfrm>
            <a:off x="4999908" y="421948"/>
            <a:ext cx="1172292" cy="279401"/>
            <a:chOff x="-1727200" y="-2280564"/>
            <a:chExt cx="1172292" cy="279401"/>
          </a:xfrm>
        </p:grpSpPr>
        <p:sp>
          <p:nvSpPr>
            <p:cNvPr id="8" name="矩形: 圆角 8【石萌】">
              <a:extLst>
                <a:ext uri="{FF2B5EF4-FFF2-40B4-BE49-F238E27FC236}">
                  <a16:creationId xmlns:a16="http://schemas.microsoft.com/office/drawing/2014/main" id="{A6877AAF-F93E-048F-97FD-B59DBAA35F03}"/>
                </a:ext>
              </a:extLst>
            </p:cNvPr>
            <p:cNvSpPr/>
            <p:nvPr/>
          </p:nvSpPr>
          <p:spPr>
            <a:xfrm>
              <a:off x="-1727200" y="-2260242"/>
              <a:ext cx="1172292" cy="233322"/>
            </a:xfrm>
            <a:prstGeom prst="roundRect">
              <a:avLst>
                <a:gd name="adj" fmla="val 16881"/>
              </a:avLst>
            </a:prstGeom>
            <a:solidFill>
              <a:srgbClr val="00152B"/>
            </a:solidFill>
            <a:ln w="6350">
              <a:solidFill>
                <a:srgbClr val="06556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/>
                <a:cs typeface="+mn-cs"/>
              </a:endParaRPr>
            </a:p>
          </p:txBody>
        </p:sp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B4C6ACB3-9080-96F3-A3B1-6C1363EB9EF2}"/>
                </a:ext>
              </a:extLst>
            </p:cNvPr>
            <p:cNvSpPr/>
            <p:nvPr/>
          </p:nvSpPr>
          <p:spPr>
            <a:xfrm>
              <a:off x="-1675684" y="-2280564"/>
              <a:ext cx="1025525" cy="27940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zh-CN" sz="1200" b="1">
                  <a:solidFill>
                    <a:srgbClr val="3CC7F5"/>
                  </a:solidFill>
                </a:rPr>
                <a:t>AI</a:t>
              </a:r>
              <a:r>
                <a:rPr lang="zh-CN" altLang="en-US" sz="1200" b="1">
                  <a:solidFill>
                    <a:srgbClr val="3CC7F5"/>
                  </a:solidFill>
                </a:rPr>
                <a:t>智能填价</a:t>
              </a:r>
            </a:p>
          </p:txBody>
        </p:sp>
      </p:grpSp>
      <p:sp>
        <p:nvSpPr>
          <p:cNvPr id="10" name="矩形 9">
            <a:extLst>
              <a:ext uri="{FF2B5EF4-FFF2-40B4-BE49-F238E27FC236}">
                <a16:creationId xmlns:a16="http://schemas.microsoft.com/office/drawing/2014/main" id="{09AA7AFD-8FA5-6B82-EEDC-D048CCAD13E4}"/>
              </a:ext>
            </a:extLst>
          </p:cNvPr>
          <p:cNvSpPr/>
          <p:nvPr/>
        </p:nvSpPr>
        <p:spPr>
          <a:xfrm>
            <a:off x="714374" y="449622"/>
            <a:ext cx="3552825" cy="1626827"/>
          </a:xfrm>
          <a:prstGeom prst="rect">
            <a:avLst/>
          </a:prstGeom>
          <a:solidFill>
            <a:srgbClr val="000A1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7BA1A567-F982-7C7A-9AD1-2DB29AB9A3C0}"/>
              </a:ext>
            </a:extLst>
          </p:cNvPr>
          <p:cNvSpPr/>
          <p:nvPr/>
        </p:nvSpPr>
        <p:spPr>
          <a:xfrm>
            <a:off x="91440" y="-1179830"/>
            <a:ext cx="6878320" cy="5384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2800" b="1">
                <a:solidFill>
                  <a:schemeClr val="bg1"/>
                </a:solidFill>
              </a:rPr>
              <a:t>Ai</a:t>
            </a:r>
            <a:r>
              <a:rPr lang="zh-CN" altLang="en-US" sz="2800" b="1">
                <a:solidFill>
                  <a:schemeClr val="bg1"/>
                </a:solidFill>
              </a:rPr>
              <a:t>原生     一项 </a:t>
            </a:r>
            <a:r>
              <a:rPr lang="en-US" altLang="zh-CN" sz="2800" b="1">
                <a:solidFill>
                  <a:schemeClr val="bg1"/>
                </a:solidFill>
              </a:rPr>
              <a:t>TASK </a:t>
            </a:r>
            <a:r>
              <a:rPr lang="zh-CN" altLang="en-US" sz="2800" b="1">
                <a:solidFill>
                  <a:schemeClr val="bg1"/>
                </a:solidFill>
              </a:rPr>
              <a:t>， 接通三条链</a:t>
            </a:r>
          </a:p>
        </p:txBody>
      </p: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1D0CDC38-7C26-D191-FD00-EB9814F6AA6D}"/>
              </a:ext>
            </a:extLst>
          </p:cNvPr>
          <p:cNvCxnSpPr>
            <a:cxnSpLocks/>
          </p:cNvCxnSpPr>
          <p:nvPr/>
        </p:nvCxnSpPr>
        <p:spPr>
          <a:xfrm flipH="1">
            <a:off x="1496566" y="-1040130"/>
            <a:ext cx="82297" cy="269240"/>
          </a:xfrm>
          <a:prstGeom prst="line">
            <a:avLst/>
          </a:prstGeom>
          <a:ln w="38100">
            <a:solidFill>
              <a:srgbClr val="3CC7F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矩形 12">
            <a:extLst>
              <a:ext uri="{FF2B5EF4-FFF2-40B4-BE49-F238E27FC236}">
                <a16:creationId xmlns:a16="http://schemas.microsoft.com/office/drawing/2014/main" id="{9F589EDC-B94A-1E61-153C-B46403408E75}"/>
              </a:ext>
            </a:extLst>
          </p:cNvPr>
          <p:cNvSpPr/>
          <p:nvPr/>
        </p:nvSpPr>
        <p:spPr>
          <a:xfrm>
            <a:off x="993097" y="536250"/>
            <a:ext cx="3274103" cy="121793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7200" b="1">
                <a:solidFill>
                  <a:srgbClr val="3CC7F5"/>
                </a:solidFill>
              </a:rPr>
              <a:t>99.2 </a:t>
            </a:r>
            <a:r>
              <a:rPr lang="en-US" altLang="zh-CN" sz="4400" b="1">
                <a:solidFill>
                  <a:srgbClr val="3CC7F5"/>
                </a:solidFill>
              </a:rPr>
              <a:t>%</a:t>
            </a:r>
            <a:endParaRPr lang="zh-CN" altLang="en-US" sz="7200" b="1">
              <a:solidFill>
                <a:srgbClr val="3CC7F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585546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E8BB3DFC-553C-50B9-E56E-009BCBEC6992}"/>
              </a:ext>
            </a:extLst>
          </p:cNvPr>
          <p:cNvSpPr/>
          <p:nvPr/>
        </p:nvSpPr>
        <p:spPr>
          <a:xfrm>
            <a:off x="2933700" y="1583054"/>
            <a:ext cx="2971800" cy="3236595"/>
          </a:xfrm>
          <a:prstGeom prst="rect">
            <a:avLst/>
          </a:prstGeom>
          <a:solidFill>
            <a:srgbClr val="000C2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" name="图片 2" descr="09-任务来找人从派发到多人复核">
            <a:extLst>
              <a:ext uri="{FF2B5EF4-FFF2-40B4-BE49-F238E27FC236}">
                <a16:creationId xmlns:a16="http://schemas.microsoft.com/office/drawing/2014/main" id="{2F1F5640-DEFA-660A-B44A-BD806961D7DA}"/>
              </a:ext>
            </a:extLst>
          </p:cNvPr>
          <p:cNvPicPr>
            <a:picLocks noGrp="1" noChangeAspect="1"/>
          </p:cNvPicPr>
          <p:nvPr isPhoto="1"/>
        </p:nvPicPr>
        <p:blipFill>
          <a:blip r:embed="rId3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75" y="0"/>
            <a:ext cx="12185650" cy="6858000"/>
          </a:xfrm>
          <a:prstGeom prst="rect">
            <a:avLst/>
          </a:prstGeom>
        </p:spPr>
      </p:pic>
      <p:sp>
        <p:nvSpPr>
          <p:cNvPr id="8" name="矩形: 圆角 7">
            <a:extLst>
              <a:ext uri="{FF2B5EF4-FFF2-40B4-BE49-F238E27FC236}">
                <a16:creationId xmlns:a16="http://schemas.microsoft.com/office/drawing/2014/main" id="{9211CBB4-1290-3FCC-E4CC-FC56929AA010}"/>
              </a:ext>
            </a:extLst>
          </p:cNvPr>
          <p:cNvSpPr/>
          <p:nvPr/>
        </p:nvSpPr>
        <p:spPr>
          <a:xfrm>
            <a:off x="2933700" y="1631950"/>
            <a:ext cx="2971800" cy="3187698"/>
          </a:xfrm>
          <a:prstGeom prst="roundRect">
            <a:avLst>
              <a:gd name="adj" fmla="val 2522"/>
            </a:avLst>
          </a:prstGeom>
          <a:solidFill>
            <a:srgbClr val="000B1B"/>
          </a:solidFill>
          <a:ln w="6350">
            <a:solidFill>
              <a:srgbClr val="054D6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720549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10-问问智算一个问题三个工作入口">
            <a:extLst>
              <a:ext uri="{FF2B5EF4-FFF2-40B4-BE49-F238E27FC236}">
                <a16:creationId xmlns:a16="http://schemas.microsoft.com/office/drawing/2014/main" id="{85C41AEF-89A9-DE88-775A-18C9A77C7A67}"/>
              </a:ext>
            </a:extLst>
          </p:cNvPr>
          <p:cNvPicPr>
            <a:picLocks noGrp="1" noChangeAspect="1"/>
          </p:cNvPicPr>
          <p:nvPr isPhoto="1"/>
        </p:nvPicPr>
        <p:blipFill>
          <a:blip r:embed="rId3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0" y="0"/>
            <a:ext cx="12185650" cy="6858000"/>
          </a:xfrm>
          <a:prstGeom prst="rect">
            <a:avLst/>
          </a:prstGeom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299D70FC-A5DA-69A6-5550-AAFD3CB664F8}"/>
              </a:ext>
            </a:extLst>
          </p:cNvPr>
          <p:cNvSpPr/>
          <p:nvPr/>
        </p:nvSpPr>
        <p:spPr>
          <a:xfrm>
            <a:off x="553389" y="842838"/>
            <a:ext cx="2849769" cy="333955"/>
          </a:xfrm>
          <a:prstGeom prst="rect">
            <a:avLst/>
          </a:prstGeom>
          <a:solidFill>
            <a:srgbClr val="000E2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E5EAF918-03D1-BB16-A8B1-3A9D9C2D2C4B}"/>
              </a:ext>
            </a:extLst>
          </p:cNvPr>
          <p:cNvSpPr/>
          <p:nvPr/>
        </p:nvSpPr>
        <p:spPr>
          <a:xfrm>
            <a:off x="672655" y="778665"/>
            <a:ext cx="2937233" cy="47371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600" b="1">
                <a:solidFill>
                  <a:srgbClr val="3CC7F5"/>
                </a:solidFill>
              </a:rPr>
              <a:t>WEB</a:t>
            </a:r>
            <a:r>
              <a:rPr lang="zh-CN" altLang="en-US" sz="1600" b="1">
                <a:solidFill>
                  <a:srgbClr val="3CC7F5"/>
                </a:solidFill>
              </a:rPr>
              <a:t>网页端  </a:t>
            </a:r>
            <a:r>
              <a:rPr lang="en-US" altLang="zh-CN" sz="1600" b="1">
                <a:solidFill>
                  <a:srgbClr val="3CC7F5"/>
                </a:solidFill>
              </a:rPr>
              <a:t>(</a:t>
            </a:r>
            <a:r>
              <a:rPr lang="zh-CN" altLang="en-US" sz="1600" b="1">
                <a:solidFill>
                  <a:srgbClr val="3CC7F5"/>
                </a:solidFill>
              </a:rPr>
              <a:t>边看表 边查询</a:t>
            </a:r>
            <a:r>
              <a:rPr lang="en-US" altLang="zh-CN" sz="1600" b="1">
                <a:solidFill>
                  <a:srgbClr val="3CC7F5"/>
                </a:solidFill>
              </a:rPr>
              <a:t>)</a:t>
            </a:r>
            <a:endParaRPr lang="zh-CN" altLang="en-US" sz="1600" b="1">
              <a:solidFill>
                <a:srgbClr val="3CC7F5"/>
              </a:solidFill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F8EE080-1208-173B-9501-1269905994E1}"/>
              </a:ext>
            </a:extLst>
          </p:cNvPr>
          <p:cNvSpPr/>
          <p:nvPr/>
        </p:nvSpPr>
        <p:spPr>
          <a:xfrm>
            <a:off x="4531971" y="842838"/>
            <a:ext cx="2915889" cy="333955"/>
          </a:xfrm>
          <a:prstGeom prst="rect">
            <a:avLst/>
          </a:prstGeom>
          <a:solidFill>
            <a:srgbClr val="000E2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5143EFE-4D16-9D10-CD89-180C92C58CCA}"/>
              </a:ext>
            </a:extLst>
          </p:cNvPr>
          <p:cNvSpPr/>
          <p:nvPr/>
        </p:nvSpPr>
        <p:spPr>
          <a:xfrm>
            <a:off x="4696432" y="778665"/>
            <a:ext cx="2703720" cy="47371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600" b="1">
                <a:solidFill>
                  <a:srgbClr val="3CC7F5"/>
                </a:solidFill>
              </a:rPr>
              <a:t>飞书内提问  </a:t>
            </a:r>
            <a:r>
              <a:rPr lang="en-US" altLang="zh-CN" sz="1600" b="1">
                <a:solidFill>
                  <a:srgbClr val="3CC7F5"/>
                </a:solidFill>
              </a:rPr>
              <a:t>(</a:t>
            </a:r>
            <a:r>
              <a:rPr lang="zh-CN" altLang="en-US" sz="1600" b="1">
                <a:solidFill>
                  <a:srgbClr val="3CC7F5"/>
                </a:solidFill>
              </a:rPr>
              <a:t>通用组织协同</a:t>
            </a:r>
            <a:r>
              <a:rPr lang="en-US" altLang="zh-CN" sz="1600" b="1">
                <a:solidFill>
                  <a:srgbClr val="3CC7F5"/>
                </a:solidFill>
              </a:rPr>
              <a:t>)</a:t>
            </a:r>
            <a:endParaRPr lang="zh-CN" altLang="en-US" sz="1600" b="1">
              <a:solidFill>
                <a:srgbClr val="3CC7F5"/>
              </a:solidFill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7442039-567C-6161-9C34-5438EFEF9122}"/>
              </a:ext>
            </a:extLst>
          </p:cNvPr>
          <p:cNvSpPr/>
          <p:nvPr/>
        </p:nvSpPr>
        <p:spPr>
          <a:xfrm>
            <a:off x="8106271" y="842838"/>
            <a:ext cx="3413074" cy="333955"/>
          </a:xfrm>
          <a:prstGeom prst="rect">
            <a:avLst/>
          </a:prstGeom>
          <a:solidFill>
            <a:srgbClr val="000E2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33E075D-8A19-2483-C3AB-F3B288DAB191}"/>
              </a:ext>
            </a:extLst>
          </p:cNvPr>
          <p:cNvSpPr/>
          <p:nvPr/>
        </p:nvSpPr>
        <p:spPr>
          <a:xfrm>
            <a:off x="8201521" y="778665"/>
            <a:ext cx="3437089" cy="47371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600" b="1">
                <a:solidFill>
                  <a:srgbClr val="3CC7F5"/>
                </a:solidFill>
              </a:rPr>
              <a:t>WeACT</a:t>
            </a:r>
            <a:r>
              <a:rPr lang="zh-CN" altLang="en-US" sz="1600" b="1">
                <a:solidFill>
                  <a:srgbClr val="3CC7F5"/>
                </a:solidFill>
              </a:rPr>
              <a:t>内提问</a:t>
            </a:r>
            <a:r>
              <a:rPr lang="en-US" altLang="zh-CN" sz="1600" b="1">
                <a:solidFill>
                  <a:srgbClr val="3CC7F5"/>
                </a:solidFill>
              </a:rPr>
              <a:t>  (</a:t>
            </a:r>
            <a:r>
              <a:rPr lang="zh-CN" altLang="en-US" sz="1600" b="1">
                <a:solidFill>
                  <a:srgbClr val="3CC7F5"/>
                </a:solidFill>
              </a:rPr>
              <a:t>深度嵌入管网办公</a:t>
            </a:r>
            <a:r>
              <a:rPr lang="en-US" altLang="zh-CN" sz="1600" b="1">
                <a:solidFill>
                  <a:srgbClr val="3CC7F5"/>
                </a:solidFill>
              </a:rPr>
              <a:t>)</a:t>
            </a:r>
            <a:endParaRPr lang="zh-CN" altLang="en-US" sz="1600" b="1">
              <a:solidFill>
                <a:srgbClr val="3CC7F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581283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08-一条业务链回答创新性与完整性">
            <a:extLst>
              <a:ext uri="{FF2B5EF4-FFF2-40B4-BE49-F238E27FC236}">
                <a16:creationId xmlns:a16="http://schemas.microsoft.com/office/drawing/2014/main" id="{D806EF0D-D0BB-C05D-C99A-7B1BDF39DC6A}"/>
              </a:ext>
            </a:extLst>
          </p:cNvPr>
          <p:cNvPicPr>
            <a:picLocks noGrp="1" noChangeAspect="1"/>
          </p:cNvPicPr>
          <p:nvPr isPhoto="1"/>
        </p:nvPicPr>
        <p:blipFill>
          <a:blip r:embed="rId3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75" y="0"/>
            <a:ext cx="1218565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10730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>
      <p:transition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12-三分钟把一项真实任务跑到底">
            <a:extLst>
              <a:ext uri="{FF2B5EF4-FFF2-40B4-BE49-F238E27FC236}">
                <a16:creationId xmlns:a16="http://schemas.microsoft.com/office/drawing/2014/main" id="{9A7F7EF9-74E6-FB01-A26E-5E71E6340F39}"/>
              </a:ext>
            </a:extLst>
          </p:cNvPr>
          <p:cNvPicPr>
            <a:picLocks noGrp="1" noChangeAspect="1"/>
          </p:cNvPicPr>
          <p:nvPr isPhoto="1"/>
        </p:nvPicPr>
        <p:blipFill>
          <a:blip r:embed="rId3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75" y="0"/>
            <a:ext cx="12185650" cy="6858000"/>
          </a:xfrm>
          <a:prstGeom prst="rect">
            <a:avLst/>
          </a:prstGeom>
        </p:spPr>
      </p:pic>
      <p:sp>
        <p:nvSpPr>
          <p:cNvPr id="58" name="矩形: 圆角 57">
            <a:extLst>
              <a:ext uri="{FF2B5EF4-FFF2-40B4-BE49-F238E27FC236}">
                <a16:creationId xmlns:a16="http://schemas.microsoft.com/office/drawing/2014/main" id="{CBC22FF4-AD13-3BF1-B072-133D77110F3A}"/>
              </a:ext>
            </a:extLst>
          </p:cNvPr>
          <p:cNvSpPr/>
          <p:nvPr/>
        </p:nvSpPr>
        <p:spPr>
          <a:xfrm>
            <a:off x="7959247" y="1974255"/>
            <a:ext cx="806845" cy="2425072"/>
          </a:xfrm>
          <a:prstGeom prst="roundRect">
            <a:avLst>
              <a:gd name="adj" fmla="val 2116"/>
            </a:avLst>
          </a:prstGeom>
          <a:solidFill>
            <a:srgbClr val="000B1B"/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9EC40AB6-48E7-0322-ABAB-EA972BA77250}"/>
              </a:ext>
            </a:extLst>
          </p:cNvPr>
          <p:cNvSpPr/>
          <p:nvPr/>
        </p:nvSpPr>
        <p:spPr>
          <a:xfrm>
            <a:off x="5679440" y="81280"/>
            <a:ext cx="2753360" cy="538480"/>
          </a:xfrm>
          <a:prstGeom prst="rect">
            <a:avLst/>
          </a:prstGeom>
          <a:solidFill>
            <a:srgbClr val="010D2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F1BBA189-ACDD-DBC6-F1D9-E99557523141}"/>
              </a:ext>
            </a:extLst>
          </p:cNvPr>
          <p:cNvSpPr/>
          <p:nvPr/>
        </p:nvSpPr>
        <p:spPr>
          <a:xfrm>
            <a:off x="80578" y="1973580"/>
            <a:ext cx="4560002" cy="2425746"/>
          </a:xfrm>
          <a:prstGeom prst="roundRect">
            <a:avLst>
              <a:gd name="adj" fmla="val 2522"/>
            </a:avLst>
          </a:prstGeom>
          <a:solidFill>
            <a:srgbClr val="000B1B"/>
          </a:solidFill>
          <a:ln w="6350">
            <a:solidFill>
              <a:srgbClr val="076F8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9F373C7B-5277-26A0-BB52-49DEDAAAADB6}"/>
              </a:ext>
            </a:extLst>
          </p:cNvPr>
          <p:cNvSpPr/>
          <p:nvPr/>
        </p:nvSpPr>
        <p:spPr>
          <a:xfrm>
            <a:off x="-4785427" y="2469559"/>
            <a:ext cx="4560002" cy="2425746"/>
          </a:xfrm>
          <a:prstGeom prst="roundRect">
            <a:avLst>
              <a:gd name="adj" fmla="val 2522"/>
            </a:avLst>
          </a:prstGeom>
          <a:solidFill>
            <a:srgbClr val="000B1B"/>
          </a:solidFill>
          <a:ln w="6350">
            <a:solidFill>
              <a:srgbClr val="076F8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18080C61-4D14-7C97-CD0A-59E2585564AB}"/>
              </a:ext>
            </a:extLst>
          </p:cNvPr>
          <p:cNvSpPr/>
          <p:nvPr/>
        </p:nvSpPr>
        <p:spPr>
          <a:xfrm>
            <a:off x="0" y="-1169670"/>
            <a:ext cx="7792720" cy="538480"/>
          </a:xfrm>
          <a:prstGeom prst="rect">
            <a:avLst/>
          </a:prstGeom>
          <a:solidFill>
            <a:srgbClr val="010D2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5501E92-2665-ABF9-2A75-675CFF7BD3DD}"/>
              </a:ext>
            </a:extLst>
          </p:cNvPr>
          <p:cNvSpPr/>
          <p:nvPr/>
        </p:nvSpPr>
        <p:spPr>
          <a:xfrm>
            <a:off x="91440" y="-1179830"/>
            <a:ext cx="6878320" cy="5384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2800" b="1">
                <a:solidFill>
                  <a:schemeClr val="bg1"/>
                </a:solidFill>
              </a:rPr>
              <a:t>Ai</a:t>
            </a:r>
            <a:r>
              <a:rPr lang="zh-CN" altLang="en-US" sz="2800" b="1">
                <a:solidFill>
                  <a:schemeClr val="bg1"/>
                </a:solidFill>
              </a:rPr>
              <a:t>原生     一项 </a:t>
            </a:r>
            <a:r>
              <a:rPr lang="en-US" altLang="zh-CN" sz="2800" b="1">
                <a:solidFill>
                  <a:schemeClr val="bg1"/>
                </a:solidFill>
              </a:rPr>
              <a:t>TASK </a:t>
            </a:r>
            <a:r>
              <a:rPr lang="zh-CN" altLang="en-US" sz="2800" b="1">
                <a:solidFill>
                  <a:schemeClr val="bg1"/>
                </a:solidFill>
              </a:rPr>
              <a:t>， 接通三条链</a:t>
            </a:r>
          </a:p>
        </p:txBody>
      </p: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6B6E1035-8D78-0915-E28D-DCBCB9FEF3EF}"/>
              </a:ext>
            </a:extLst>
          </p:cNvPr>
          <p:cNvCxnSpPr>
            <a:cxnSpLocks/>
          </p:cNvCxnSpPr>
          <p:nvPr/>
        </p:nvCxnSpPr>
        <p:spPr>
          <a:xfrm flipH="1">
            <a:off x="1496566" y="-1040130"/>
            <a:ext cx="82297" cy="269240"/>
          </a:xfrm>
          <a:prstGeom prst="line">
            <a:avLst/>
          </a:prstGeom>
          <a:ln w="38100">
            <a:solidFill>
              <a:srgbClr val="3CC7F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矩形 13">
            <a:extLst>
              <a:ext uri="{FF2B5EF4-FFF2-40B4-BE49-F238E27FC236}">
                <a16:creationId xmlns:a16="http://schemas.microsoft.com/office/drawing/2014/main" id="{155FA72F-50F6-D463-2DEC-303BCC3CEE59}"/>
              </a:ext>
            </a:extLst>
          </p:cNvPr>
          <p:cNvSpPr/>
          <p:nvPr/>
        </p:nvSpPr>
        <p:spPr>
          <a:xfrm>
            <a:off x="-1727200" y="513080"/>
            <a:ext cx="1273175" cy="47371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000" b="1">
                <a:solidFill>
                  <a:srgbClr val="3CC7F5"/>
                </a:solidFill>
              </a:rPr>
              <a:t>系统看板</a:t>
            </a:r>
          </a:p>
        </p:txBody>
      </p: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B4DE8D01-4CB1-D734-C226-3A628E4E1FD4}"/>
              </a:ext>
            </a:extLst>
          </p:cNvPr>
          <p:cNvGrpSpPr/>
          <p:nvPr/>
        </p:nvGrpSpPr>
        <p:grpSpPr>
          <a:xfrm>
            <a:off x="-1181182" y="2013477"/>
            <a:ext cx="955757" cy="279401"/>
            <a:chOff x="-1727200" y="-2280564"/>
            <a:chExt cx="955757" cy="279401"/>
          </a:xfrm>
        </p:grpSpPr>
        <p:sp>
          <p:nvSpPr>
            <p:cNvPr id="18" name="矩形: 圆角 8【石萌】">
              <a:extLst>
                <a:ext uri="{FF2B5EF4-FFF2-40B4-BE49-F238E27FC236}">
                  <a16:creationId xmlns:a16="http://schemas.microsoft.com/office/drawing/2014/main" id="{DC7E53A7-29E0-5062-DD14-DB63EF778C78}"/>
                </a:ext>
              </a:extLst>
            </p:cNvPr>
            <p:cNvSpPr/>
            <p:nvPr/>
          </p:nvSpPr>
          <p:spPr>
            <a:xfrm>
              <a:off x="-1727200" y="-2260242"/>
              <a:ext cx="904240" cy="233322"/>
            </a:xfrm>
            <a:prstGeom prst="roundRect">
              <a:avLst>
                <a:gd name="adj" fmla="val 16881"/>
              </a:avLst>
            </a:prstGeom>
            <a:solidFill>
              <a:srgbClr val="3CC7F5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/>
                <a:cs typeface="+mn-cs"/>
              </a:endParaRPr>
            </a:p>
          </p:txBody>
        </p:sp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087DA6B2-8FD0-485C-2340-60A5952CA6F5}"/>
                </a:ext>
              </a:extLst>
            </p:cNvPr>
            <p:cNvSpPr/>
            <p:nvPr/>
          </p:nvSpPr>
          <p:spPr>
            <a:xfrm>
              <a:off x="-1675683" y="-2280564"/>
              <a:ext cx="904240" cy="27940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zh-CN" altLang="en-US" sz="1200" b="1">
                  <a:solidFill>
                    <a:schemeClr val="bg1"/>
                  </a:solidFill>
                </a:rPr>
                <a:t>系统看板</a:t>
              </a:r>
            </a:p>
          </p:txBody>
        </p:sp>
      </p:grp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1789A94D-DC45-51AA-E5DE-DF3850AD06BC}"/>
              </a:ext>
            </a:extLst>
          </p:cNvPr>
          <p:cNvGrpSpPr/>
          <p:nvPr/>
        </p:nvGrpSpPr>
        <p:grpSpPr>
          <a:xfrm>
            <a:off x="-1181182" y="1588474"/>
            <a:ext cx="955757" cy="279401"/>
            <a:chOff x="-1727200" y="-2280564"/>
            <a:chExt cx="955757" cy="279401"/>
          </a:xfrm>
        </p:grpSpPr>
        <p:sp>
          <p:nvSpPr>
            <p:cNvPr id="26" name="矩形: 圆角 8【石萌】">
              <a:extLst>
                <a:ext uri="{FF2B5EF4-FFF2-40B4-BE49-F238E27FC236}">
                  <a16:creationId xmlns:a16="http://schemas.microsoft.com/office/drawing/2014/main" id="{D33D961D-D0B6-6EB1-90E1-AD68A8AC85CF}"/>
                </a:ext>
              </a:extLst>
            </p:cNvPr>
            <p:cNvSpPr/>
            <p:nvPr/>
          </p:nvSpPr>
          <p:spPr>
            <a:xfrm>
              <a:off x="-1727200" y="-2260242"/>
              <a:ext cx="904240" cy="233322"/>
            </a:xfrm>
            <a:prstGeom prst="roundRect">
              <a:avLst>
                <a:gd name="adj" fmla="val 16881"/>
              </a:avLst>
            </a:prstGeom>
            <a:solidFill>
              <a:srgbClr val="00152B"/>
            </a:solidFill>
            <a:ln w="6350">
              <a:solidFill>
                <a:srgbClr val="06556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/>
                <a:cs typeface="+mn-cs"/>
              </a:endParaRPr>
            </a:p>
          </p:txBody>
        </p:sp>
        <p:sp>
          <p:nvSpPr>
            <p:cNvPr id="27" name="矩形 26">
              <a:extLst>
                <a:ext uri="{FF2B5EF4-FFF2-40B4-BE49-F238E27FC236}">
                  <a16:creationId xmlns:a16="http://schemas.microsoft.com/office/drawing/2014/main" id="{38F0033D-A5FC-DB3C-2D9F-F1D3AD8D5B41}"/>
                </a:ext>
              </a:extLst>
            </p:cNvPr>
            <p:cNvSpPr/>
            <p:nvPr/>
          </p:nvSpPr>
          <p:spPr>
            <a:xfrm>
              <a:off x="-1675683" y="-2280564"/>
              <a:ext cx="904240" cy="27940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zh-CN" altLang="en-US" sz="1200" b="1">
                  <a:solidFill>
                    <a:srgbClr val="3CC7F5"/>
                  </a:solidFill>
                </a:rPr>
                <a:t>系统看板</a:t>
              </a:r>
            </a:p>
          </p:txBody>
        </p:sp>
      </p:grpSp>
      <p:grpSp>
        <p:nvGrpSpPr>
          <p:cNvPr id="28" name="组合 27">
            <a:extLst>
              <a:ext uri="{FF2B5EF4-FFF2-40B4-BE49-F238E27FC236}">
                <a16:creationId xmlns:a16="http://schemas.microsoft.com/office/drawing/2014/main" id="{5B8B9643-C41E-A325-58EB-B4D8C8BE3C10}"/>
              </a:ext>
            </a:extLst>
          </p:cNvPr>
          <p:cNvGrpSpPr/>
          <p:nvPr/>
        </p:nvGrpSpPr>
        <p:grpSpPr>
          <a:xfrm>
            <a:off x="180258" y="2019604"/>
            <a:ext cx="955757" cy="279401"/>
            <a:chOff x="-1727200" y="-2280564"/>
            <a:chExt cx="955757" cy="279401"/>
          </a:xfrm>
        </p:grpSpPr>
        <p:sp>
          <p:nvSpPr>
            <p:cNvPr id="29" name="矩形: 圆角 8【石萌】">
              <a:extLst>
                <a:ext uri="{FF2B5EF4-FFF2-40B4-BE49-F238E27FC236}">
                  <a16:creationId xmlns:a16="http://schemas.microsoft.com/office/drawing/2014/main" id="{CDC19C46-8CFC-2EE7-8AA1-7E2BB592A09A}"/>
                </a:ext>
              </a:extLst>
            </p:cNvPr>
            <p:cNvSpPr/>
            <p:nvPr/>
          </p:nvSpPr>
          <p:spPr>
            <a:xfrm>
              <a:off x="-1727200" y="-2260242"/>
              <a:ext cx="904240" cy="233322"/>
            </a:xfrm>
            <a:prstGeom prst="roundRect">
              <a:avLst>
                <a:gd name="adj" fmla="val 16881"/>
              </a:avLst>
            </a:prstGeom>
            <a:solidFill>
              <a:srgbClr val="00152B"/>
            </a:solidFill>
            <a:ln w="6350">
              <a:solidFill>
                <a:srgbClr val="06556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/>
                <a:cs typeface="+mn-cs"/>
              </a:endParaRPr>
            </a:p>
          </p:txBody>
        </p:sp>
        <p:sp>
          <p:nvSpPr>
            <p:cNvPr id="30" name="矩形 29">
              <a:extLst>
                <a:ext uri="{FF2B5EF4-FFF2-40B4-BE49-F238E27FC236}">
                  <a16:creationId xmlns:a16="http://schemas.microsoft.com/office/drawing/2014/main" id="{A5AF00BA-06BB-243D-4AD6-E1DC1C603370}"/>
                </a:ext>
              </a:extLst>
            </p:cNvPr>
            <p:cNvSpPr/>
            <p:nvPr/>
          </p:nvSpPr>
          <p:spPr>
            <a:xfrm>
              <a:off x="-1675683" y="-2280564"/>
              <a:ext cx="904240" cy="27940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zh-CN" altLang="en-US" sz="1200" b="1">
                  <a:solidFill>
                    <a:srgbClr val="3CC7F5"/>
                  </a:solidFill>
                </a:rPr>
                <a:t>系统看板</a:t>
              </a:r>
            </a:p>
          </p:txBody>
        </p:sp>
      </p:grpSp>
      <p:sp>
        <p:nvSpPr>
          <p:cNvPr id="34" name="矩形: 圆角 33">
            <a:extLst>
              <a:ext uri="{FF2B5EF4-FFF2-40B4-BE49-F238E27FC236}">
                <a16:creationId xmlns:a16="http://schemas.microsoft.com/office/drawing/2014/main" id="{980222A2-25A1-237B-1BCB-108D1D5F3A40}"/>
              </a:ext>
            </a:extLst>
          </p:cNvPr>
          <p:cNvSpPr/>
          <p:nvPr/>
        </p:nvSpPr>
        <p:spPr>
          <a:xfrm>
            <a:off x="84841" y="4458703"/>
            <a:ext cx="3319670" cy="1743314"/>
          </a:xfrm>
          <a:prstGeom prst="roundRect">
            <a:avLst>
              <a:gd name="adj" fmla="val 2522"/>
            </a:avLst>
          </a:prstGeom>
          <a:solidFill>
            <a:srgbClr val="000B1B"/>
          </a:solidFill>
          <a:ln w="6350">
            <a:solidFill>
              <a:srgbClr val="076F8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5" name="组合 34">
            <a:extLst>
              <a:ext uri="{FF2B5EF4-FFF2-40B4-BE49-F238E27FC236}">
                <a16:creationId xmlns:a16="http://schemas.microsoft.com/office/drawing/2014/main" id="{28045D85-63F0-2363-A525-A3132C0A59A1}"/>
              </a:ext>
            </a:extLst>
          </p:cNvPr>
          <p:cNvGrpSpPr/>
          <p:nvPr/>
        </p:nvGrpSpPr>
        <p:grpSpPr>
          <a:xfrm>
            <a:off x="191120" y="4504727"/>
            <a:ext cx="955757" cy="279401"/>
            <a:chOff x="-1727200" y="-2280564"/>
            <a:chExt cx="955757" cy="279401"/>
          </a:xfrm>
        </p:grpSpPr>
        <p:sp>
          <p:nvSpPr>
            <p:cNvPr id="36" name="矩形: 圆角 8【石萌】">
              <a:extLst>
                <a:ext uri="{FF2B5EF4-FFF2-40B4-BE49-F238E27FC236}">
                  <a16:creationId xmlns:a16="http://schemas.microsoft.com/office/drawing/2014/main" id="{7CACCBC8-7F5E-D6BC-5BA8-52A6A573EA5B}"/>
                </a:ext>
              </a:extLst>
            </p:cNvPr>
            <p:cNvSpPr/>
            <p:nvPr/>
          </p:nvSpPr>
          <p:spPr>
            <a:xfrm>
              <a:off x="-1727200" y="-2260242"/>
              <a:ext cx="904240" cy="233322"/>
            </a:xfrm>
            <a:prstGeom prst="roundRect">
              <a:avLst>
                <a:gd name="adj" fmla="val 16881"/>
              </a:avLst>
            </a:prstGeom>
            <a:solidFill>
              <a:srgbClr val="00152B"/>
            </a:solidFill>
            <a:ln w="6350">
              <a:solidFill>
                <a:srgbClr val="06556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/>
                <a:cs typeface="+mn-cs"/>
              </a:endParaRPr>
            </a:p>
          </p:txBody>
        </p:sp>
        <p:sp>
          <p:nvSpPr>
            <p:cNvPr id="37" name="矩形 36">
              <a:extLst>
                <a:ext uri="{FF2B5EF4-FFF2-40B4-BE49-F238E27FC236}">
                  <a16:creationId xmlns:a16="http://schemas.microsoft.com/office/drawing/2014/main" id="{41C49E02-EE6F-1072-4719-C442B173712C}"/>
                </a:ext>
              </a:extLst>
            </p:cNvPr>
            <p:cNvSpPr/>
            <p:nvPr/>
          </p:nvSpPr>
          <p:spPr>
            <a:xfrm>
              <a:off x="-1675683" y="-2280564"/>
              <a:ext cx="904240" cy="27940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zh-CN" altLang="en-US" sz="1200" b="1">
                  <a:solidFill>
                    <a:srgbClr val="3CC7F5"/>
                  </a:solidFill>
                </a:rPr>
                <a:t>问问智算</a:t>
              </a:r>
            </a:p>
          </p:txBody>
        </p:sp>
      </p:grpSp>
      <p:sp>
        <p:nvSpPr>
          <p:cNvPr id="38" name="矩形 37">
            <a:extLst>
              <a:ext uri="{FF2B5EF4-FFF2-40B4-BE49-F238E27FC236}">
                <a16:creationId xmlns:a16="http://schemas.microsoft.com/office/drawing/2014/main" id="{7DDE16C1-F2B3-D5E6-6747-387E0689576F}"/>
              </a:ext>
            </a:extLst>
          </p:cNvPr>
          <p:cNvSpPr/>
          <p:nvPr/>
        </p:nvSpPr>
        <p:spPr>
          <a:xfrm>
            <a:off x="188513" y="-1717997"/>
            <a:ext cx="1273175" cy="47371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000" b="1">
                <a:solidFill>
                  <a:srgbClr val="3CC7F5"/>
                </a:solidFill>
              </a:rPr>
              <a:t>系统看板</a:t>
            </a:r>
          </a:p>
        </p:txBody>
      </p:sp>
      <p:sp>
        <p:nvSpPr>
          <p:cNvPr id="39" name="矩形: 圆角 38">
            <a:extLst>
              <a:ext uri="{FF2B5EF4-FFF2-40B4-BE49-F238E27FC236}">
                <a16:creationId xmlns:a16="http://schemas.microsoft.com/office/drawing/2014/main" id="{6B28C8C3-C323-A3C6-62CA-2EF7F38ECA37}"/>
              </a:ext>
            </a:extLst>
          </p:cNvPr>
          <p:cNvSpPr/>
          <p:nvPr/>
        </p:nvSpPr>
        <p:spPr>
          <a:xfrm>
            <a:off x="4715287" y="1974255"/>
            <a:ext cx="3593605" cy="2425072"/>
          </a:xfrm>
          <a:prstGeom prst="roundRect">
            <a:avLst>
              <a:gd name="adj" fmla="val 2116"/>
            </a:avLst>
          </a:prstGeom>
          <a:solidFill>
            <a:srgbClr val="000B1B"/>
          </a:solidFill>
          <a:ln w="6350">
            <a:solidFill>
              <a:srgbClr val="076F8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41" name="组合 40">
            <a:extLst>
              <a:ext uri="{FF2B5EF4-FFF2-40B4-BE49-F238E27FC236}">
                <a16:creationId xmlns:a16="http://schemas.microsoft.com/office/drawing/2014/main" id="{0FCAEEF5-E905-4F37-4C43-48A8F1D4D655}"/>
              </a:ext>
            </a:extLst>
          </p:cNvPr>
          <p:cNvGrpSpPr/>
          <p:nvPr/>
        </p:nvGrpSpPr>
        <p:grpSpPr>
          <a:xfrm>
            <a:off x="4789094" y="2013477"/>
            <a:ext cx="1172292" cy="279401"/>
            <a:chOff x="-1727200" y="-2280564"/>
            <a:chExt cx="1172292" cy="279401"/>
          </a:xfrm>
        </p:grpSpPr>
        <p:sp>
          <p:nvSpPr>
            <p:cNvPr id="42" name="矩形: 圆角 8【石萌】">
              <a:extLst>
                <a:ext uri="{FF2B5EF4-FFF2-40B4-BE49-F238E27FC236}">
                  <a16:creationId xmlns:a16="http://schemas.microsoft.com/office/drawing/2014/main" id="{AB3B4804-9063-1DAB-1B51-8757ECEFADE3}"/>
                </a:ext>
              </a:extLst>
            </p:cNvPr>
            <p:cNvSpPr/>
            <p:nvPr/>
          </p:nvSpPr>
          <p:spPr>
            <a:xfrm>
              <a:off x="-1727200" y="-2260242"/>
              <a:ext cx="1172292" cy="233322"/>
            </a:xfrm>
            <a:prstGeom prst="roundRect">
              <a:avLst>
                <a:gd name="adj" fmla="val 16881"/>
              </a:avLst>
            </a:prstGeom>
            <a:solidFill>
              <a:srgbClr val="00152B"/>
            </a:solidFill>
            <a:ln w="6350">
              <a:solidFill>
                <a:srgbClr val="06556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/>
                <a:cs typeface="+mn-cs"/>
              </a:endParaRPr>
            </a:p>
          </p:txBody>
        </p:sp>
        <p:sp>
          <p:nvSpPr>
            <p:cNvPr id="43" name="矩形 42">
              <a:extLst>
                <a:ext uri="{FF2B5EF4-FFF2-40B4-BE49-F238E27FC236}">
                  <a16:creationId xmlns:a16="http://schemas.microsoft.com/office/drawing/2014/main" id="{9A01B419-7026-E647-4436-9F806DEE7624}"/>
                </a:ext>
              </a:extLst>
            </p:cNvPr>
            <p:cNvSpPr/>
            <p:nvPr/>
          </p:nvSpPr>
          <p:spPr>
            <a:xfrm>
              <a:off x="-1675684" y="-2280564"/>
              <a:ext cx="1025525" cy="27940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zh-CN" sz="1200" b="1">
                  <a:solidFill>
                    <a:srgbClr val="3CC7F5"/>
                  </a:solidFill>
                </a:rPr>
                <a:t>AI</a:t>
              </a:r>
              <a:r>
                <a:rPr lang="zh-CN" altLang="en-US" sz="1200" b="1">
                  <a:solidFill>
                    <a:srgbClr val="3CC7F5"/>
                  </a:solidFill>
                </a:rPr>
                <a:t>智能填价</a:t>
              </a:r>
            </a:p>
          </p:txBody>
        </p:sp>
      </p:grpSp>
      <p:grpSp>
        <p:nvGrpSpPr>
          <p:cNvPr id="44" name="组合 43">
            <a:extLst>
              <a:ext uri="{FF2B5EF4-FFF2-40B4-BE49-F238E27FC236}">
                <a16:creationId xmlns:a16="http://schemas.microsoft.com/office/drawing/2014/main" id="{AC3A420D-E360-6789-758D-A4B36419882B}"/>
              </a:ext>
            </a:extLst>
          </p:cNvPr>
          <p:cNvGrpSpPr/>
          <p:nvPr/>
        </p:nvGrpSpPr>
        <p:grpSpPr>
          <a:xfrm>
            <a:off x="3531897" y="4504727"/>
            <a:ext cx="955757" cy="279401"/>
            <a:chOff x="-1727200" y="-2280564"/>
            <a:chExt cx="955757" cy="279401"/>
          </a:xfrm>
        </p:grpSpPr>
        <p:sp>
          <p:nvSpPr>
            <p:cNvPr id="45" name="矩形: 圆角 8【石萌】">
              <a:extLst>
                <a:ext uri="{FF2B5EF4-FFF2-40B4-BE49-F238E27FC236}">
                  <a16:creationId xmlns:a16="http://schemas.microsoft.com/office/drawing/2014/main" id="{39C9D9CB-75C4-1E5D-BBB1-BAE2E52EEBDC}"/>
                </a:ext>
              </a:extLst>
            </p:cNvPr>
            <p:cNvSpPr/>
            <p:nvPr/>
          </p:nvSpPr>
          <p:spPr>
            <a:xfrm>
              <a:off x="-1727200" y="-2260242"/>
              <a:ext cx="904240" cy="233322"/>
            </a:xfrm>
            <a:prstGeom prst="roundRect">
              <a:avLst>
                <a:gd name="adj" fmla="val 16881"/>
              </a:avLst>
            </a:prstGeom>
            <a:solidFill>
              <a:srgbClr val="00152B"/>
            </a:solidFill>
            <a:ln w="6350">
              <a:solidFill>
                <a:srgbClr val="06556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/>
                <a:cs typeface="+mn-cs"/>
              </a:endParaRPr>
            </a:p>
          </p:txBody>
        </p:sp>
        <p:sp>
          <p:nvSpPr>
            <p:cNvPr id="46" name="矩形 45">
              <a:extLst>
                <a:ext uri="{FF2B5EF4-FFF2-40B4-BE49-F238E27FC236}">
                  <a16:creationId xmlns:a16="http://schemas.microsoft.com/office/drawing/2014/main" id="{F355F975-DFA1-757F-70EA-CE8B4D55C0E7}"/>
                </a:ext>
              </a:extLst>
            </p:cNvPr>
            <p:cNvSpPr/>
            <p:nvPr/>
          </p:nvSpPr>
          <p:spPr>
            <a:xfrm>
              <a:off x="-1675683" y="-2280564"/>
              <a:ext cx="904240" cy="27940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zh-CN" altLang="en-US" sz="1200" b="1">
                  <a:solidFill>
                    <a:srgbClr val="3CC7F5"/>
                  </a:solidFill>
                </a:rPr>
                <a:t>风险报告</a:t>
              </a:r>
            </a:p>
          </p:txBody>
        </p:sp>
      </p:grpSp>
      <p:grpSp>
        <p:nvGrpSpPr>
          <p:cNvPr id="47" name="组合 46">
            <a:extLst>
              <a:ext uri="{FF2B5EF4-FFF2-40B4-BE49-F238E27FC236}">
                <a16:creationId xmlns:a16="http://schemas.microsoft.com/office/drawing/2014/main" id="{084C1D54-81B0-DA65-DCB0-0546AAB5408C}"/>
              </a:ext>
            </a:extLst>
          </p:cNvPr>
          <p:cNvGrpSpPr/>
          <p:nvPr/>
        </p:nvGrpSpPr>
        <p:grpSpPr>
          <a:xfrm>
            <a:off x="5178343" y="4504727"/>
            <a:ext cx="955757" cy="279401"/>
            <a:chOff x="-1727200" y="-2280564"/>
            <a:chExt cx="955757" cy="279401"/>
          </a:xfrm>
        </p:grpSpPr>
        <p:sp>
          <p:nvSpPr>
            <p:cNvPr id="48" name="矩形: 圆角 8【石萌】">
              <a:extLst>
                <a:ext uri="{FF2B5EF4-FFF2-40B4-BE49-F238E27FC236}">
                  <a16:creationId xmlns:a16="http://schemas.microsoft.com/office/drawing/2014/main" id="{0461A7C3-DC2F-FDC9-E044-E38D1EDB6826}"/>
                </a:ext>
              </a:extLst>
            </p:cNvPr>
            <p:cNvSpPr/>
            <p:nvPr/>
          </p:nvSpPr>
          <p:spPr>
            <a:xfrm>
              <a:off x="-1727200" y="-2260242"/>
              <a:ext cx="904240" cy="233322"/>
            </a:xfrm>
            <a:prstGeom prst="roundRect">
              <a:avLst>
                <a:gd name="adj" fmla="val 16881"/>
              </a:avLst>
            </a:prstGeom>
            <a:solidFill>
              <a:srgbClr val="00152B"/>
            </a:solidFill>
            <a:ln w="6350">
              <a:solidFill>
                <a:srgbClr val="06556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/>
                <a:cs typeface="+mn-cs"/>
              </a:endParaRPr>
            </a:p>
          </p:txBody>
        </p:sp>
        <p:sp>
          <p:nvSpPr>
            <p:cNvPr id="49" name="矩形 48">
              <a:extLst>
                <a:ext uri="{FF2B5EF4-FFF2-40B4-BE49-F238E27FC236}">
                  <a16:creationId xmlns:a16="http://schemas.microsoft.com/office/drawing/2014/main" id="{F339CB97-7B51-AE88-E7FE-9218CAB94806}"/>
                </a:ext>
              </a:extLst>
            </p:cNvPr>
            <p:cNvSpPr/>
            <p:nvPr/>
          </p:nvSpPr>
          <p:spPr>
            <a:xfrm>
              <a:off x="-1675683" y="-2280564"/>
              <a:ext cx="904240" cy="27940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zh-CN" altLang="en-US" sz="1200" b="1">
                  <a:solidFill>
                    <a:srgbClr val="3CC7F5"/>
                  </a:solidFill>
                </a:rPr>
                <a:t>成果导出</a:t>
              </a:r>
            </a:p>
          </p:txBody>
        </p:sp>
      </p:grpSp>
      <p:sp>
        <p:nvSpPr>
          <p:cNvPr id="50" name="矩形: 圆角 49">
            <a:extLst>
              <a:ext uri="{FF2B5EF4-FFF2-40B4-BE49-F238E27FC236}">
                <a16:creationId xmlns:a16="http://schemas.microsoft.com/office/drawing/2014/main" id="{86DE5AD8-4717-3DCE-741B-5EEA9392D36E}"/>
              </a:ext>
            </a:extLst>
          </p:cNvPr>
          <p:cNvSpPr/>
          <p:nvPr/>
        </p:nvSpPr>
        <p:spPr>
          <a:xfrm>
            <a:off x="3450866" y="4458703"/>
            <a:ext cx="8656293" cy="1743314"/>
          </a:xfrm>
          <a:prstGeom prst="roundRect">
            <a:avLst>
              <a:gd name="adj" fmla="val 2522"/>
            </a:avLst>
          </a:prstGeom>
          <a:noFill/>
          <a:ln w="6350">
            <a:solidFill>
              <a:srgbClr val="076F8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51" name="组合 50">
            <a:extLst>
              <a:ext uri="{FF2B5EF4-FFF2-40B4-BE49-F238E27FC236}">
                <a16:creationId xmlns:a16="http://schemas.microsoft.com/office/drawing/2014/main" id="{625D2907-99C0-619D-011F-54AE7D3ED28C}"/>
              </a:ext>
            </a:extLst>
          </p:cNvPr>
          <p:cNvGrpSpPr/>
          <p:nvPr/>
        </p:nvGrpSpPr>
        <p:grpSpPr>
          <a:xfrm>
            <a:off x="6888486" y="4504727"/>
            <a:ext cx="955757" cy="279401"/>
            <a:chOff x="-1727200" y="-2280564"/>
            <a:chExt cx="955757" cy="279401"/>
          </a:xfrm>
        </p:grpSpPr>
        <p:sp>
          <p:nvSpPr>
            <p:cNvPr id="52" name="矩形: 圆角 8【石萌】">
              <a:extLst>
                <a:ext uri="{FF2B5EF4-FFF2-40B4-BE49-F238E27FC236}">
                  <a16:creationId xmlns:a16="http://schemas.microsoft.com/office/drawing/2014/main" id="{509F7DBE-D3FB-E5DB-F01F-D37A13BDCAFC}"/>
                </a:ext>
              </a:extLst>
            </p:cNvPr>
            <p:cNvSpPr/>
            <p:nvPr/>
          </p:nvSpPr>
          <p:spPr>
            <a:xfrm>
              <a:off x="-1727200" y="-2260242"/>
              <a:ext cx="904240" cy="233322"/>
            </a:xfrm>
            <a:prstGeom prst="roundRect">
              <a:avLst>
                <a:gd name="adj" fmla="val 16881"/>
              </a:avLst>
            </a:prstGeom>
            <a:solidFill>
              <a:srgbClr val="00152B"/>
            </a:solidFill>
            <a:ln w="6350">
              <a:solidFill>
                <a:srgbClr val="06556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/>
                <a:cs typeface="+mn-cs"/>
              </a:endParaRPr>
            </a:p>
          </p:txBody>
        </p:sp>
        <p:sp>
          <p:nvSpPr>
            <p:cNvPr id="53" name="矩形 52">
              <a:extLst>
                <a:ext uri="{FF2B5EF4-FFF2-40B4-BE49-F238E27FC236}">
                  <a16:creationId xmlns:a16="http://schemas.microsoft.com/office/drawing/2014/main" id="{54CAF457-A0B5-19DA-0F0E-A4B3E380F2B4}"/>
                </a:ext>
              </a:extLst>
            </p:cNvPr>
            <p:cNvSpPr/>
            <p:nvPr/>
          </p:nvSpPr>
          <p:spPr>
            <a:xfrm>
              <a:off x="-1675683" y="-2280564"/>
              <a:ext cx="904240" cy="27940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zh-CN" altLang="en-US" sz="1200" b="1">
                  <a:solidFill>
                    <a:srgbClr val="3CC7F5"/>
                  </a:solidFill>
                </a:rPr>
                <a:t>飞书复核</a:t>
              </a:r>
            </a:p>
          </p:txBody>
        </p:sp>
      </p:grpSp>
      <p:grpSp>
        <p:nvGrpSpPr>
          <p:cNvPr id="54" name="组合 53">
            <a:extLst>
              <a:ext uri="{FF2B5EF4-FFF2-40B4-BE49-F238E27FC236}">
                <a16:creationId xmlns:a16="http://schemas.microsoft.com/office/drawing/2014/main" id="{A49E761D-9AEB-23A1-1721-840EBEA609FD}"/>
              </a:ext>
            </a:extLst>
          </p:cNvPr>
          <p:cNvGrpSpPr/>
          <p:nvPr/>
        </p:nvGrpSpPr>
        <p:grpSpPr>
          <a:xfrm>
            <a:off x="10271766" y="4504727"/>
            <a:ext cx="955757" cy="279401"/>
            <a:chOff x="-1727200" y="-2280564"/>
            <a:chExt cx="955757" cy="279401"/>
          </a:xfrm>
        </p:grpSpPr>
        <p:sp>
          <p:nvSpPr>
            <p:cNvPr id="55" name="矩形: 圆角 8【石萌】">
              <a:extLst>
                <a:ext uri="{FF2B5EF4-FFF2-40B4-BE49-F238E27FC236}">
                  <a16:creationId xmlns:a16="http://schemas.microsoft.com/office/drawing/2014/main" id="{9F3504C7-BDBA-FED0-A0F2-D056F92498DE}"/>
                </a:ext>
              </a:extLst>
            </p:cNvPr>
            <p:cNvSpPr/>
            <p:nvPr/>
          </p:nvSpPr>
          <p:spPr>
            <a:xfrm>
              <a:off x="-1727200" y="-2260242"/>
              <a:ext cx="904240" cy="233322"/>
            </a:xfrm>
            <a:prstGeom prst="roundRect">
              <a:avLst>
                <a:gd name="adj" fmla="val 16881"/>
              </a:avLst>
            </a:prstGeom>
            <a:solidFill>
              <a:srgbClr val="00152B"/>
            </a:solidFill>
            <a:ln w="6350">
              <a:solidFill>
                <a:srgbClr val="06556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/>
                <a:cs typeface="+mn-cs"/>
              </a:endParaRPr>
            </a:p>
          </p:txBody>
        </p:sp>
        <p:sp>
          <p:nvSpPr>
            <p:cNvPr id="56" name="矩形 55">
              <a:extLst>
                <a:ext uri="{FF2B5EF4-FFF2-40B4-BE49-F238E27FC236}">
                  <a16:creationId xmlns:a16="http://schemas.microsoft.com/office/drawing/2014/main" id="{E3CAACB3-8641-EB07-4AB3-0B23556ED365}"/>
                </a:ext>
              </a:extLst>
            </p:cNvPr>
            <p:cNvSpPr/>
            <p:nvPr/>
          </p:nvSpPr>
          <p:spPr>
            <a:xfrm>
              <a:off x="-1675683" y="-2280564"/>
              <a:ext cx="904240" cy="27940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zh-CN" altLang="en-US" sz="1200" b="1">
                  <a:solidFill>
                    <a:srgbClr val="3CC7F5"/>
                  </a:solidFill>
                </a:rPr>
                <a:t>进度追踪</a:t>
              </a:r>
            </a:p>
          </p:txBody>
        </p:sp>
      </p:grpSp>
      <p:sp>
        <p:nvSpPr>
          <p:cNvPr id="57" name="矩形: 圆角 56">
            <a:extLst>
              <a:ext uri="{FF2B5EF4-FFF2-40B4-BE49-F238E27FC236}">
                <a16:creationId xmlns:a16="http://schemas.microsoft.com/office/drawing/2014/main" id="{5C7FBA28-D2C8-FC0F-22EB-EED8C0CFF00E}"/>
              </a:ext>
            </a:extLst>
          </p:cNvPr>
          <p:cNvSpPr/>
          <p:nvPr/>
        </p:nvSpPr>
        <p:spPr>
          <a:xfrm>
            <a:off x="8368449" y="1974255"/>
            <a:ext cx="3740539" cy="2425072"/>
          </a:xfrm>
          <a:prstGeom prst="roundRect">
            <a:avLst>
              <a:gd name="adj" fmla="val 2116"/>
            </a:avLst>
          </a:prstGeom>
          <a:solidFill>
            <a:srgbClr val="000B1B"/>
          </a:solidFill>
          <a:ln w="6350">
            <a:solidFill>
              <a:srgbClr val="076F8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59" name="组合 58">
            <a:extLst>
              <a:ext uri="{FF2B5EF4-FFF2-40B4-BE49-F238E27FC236}">
                <a16:creationId xmlns:a16="http://schemas.microsoft.com/office/drawing/2014/main" id="{1F8F2C49-69C9-AEB4-CF65-5FDE69129C66}"/>
              </a:ext>
            </a:extLst>
          </p:cNvPr>
          <p:cNvGrpSpPr/>
          <p:nvPr/>
        </p:nvGrpSpPr>
        <p:grpSpPr>
          <a:xfrm>
            <a:off x="8638106" y="4504727"/>
            <a:ext cx="955757" cy="279401"/>
            <a:chOff x="-1727200" y="-2280564"/>
            <a:chExt cx="955757" cy="279401"/>
          </a:xfrm>
        </p:grpSpPr>
        <p:sp>
          <p:nvSpPr>
            <p:cNvPr id="60" name="矩形: 圆角 8【石萌】">
              <a:extLst>
                <a:ext uri="{FF2B5EF4-FFF2-40B4-BE49-F238E27FC236}">
                  <a16:creationId xmlns:a16="http://schemas.microsoft.com/office/drawing/2014/main" id="{A1F06B07-3E3F-6C6D-C50B-AEBCBEAF39B7}"/>
                </a:ext>
              </a:extLst>
            </p:cNvPr>
            <p:cNvSpPr/>
            <p:nvPr/>
          </p:nvSpPr>
          <p:spPr>
            <a:xfrm>
              <a:off x="-1727200" y="-2260242"/>
              <a:ext cx="904240" cy="233322"/>
            </a:xfrm>
            <a:prstGeom prst="roundRect">
              <a:avLst>
                <a:gd name="adj" fmla="val 16881"/>
              </a:avLst>
            </a:prstGeom>
            <a:solidFill>
              <a:srgbClr val="00152B"/>
            </a:solidFill>
            <a:ln w="6350">
              <a:solidFill>
                <a:srgbClr val="06556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/>
                <a:cs typeface="+mn-cs"/>
              </a:endParaRPr>
            </a:p>
          </p:txBody>
        </p:sp>
        <p:sp>
          <p:nvSpPr>
            <p:cNvPr id="61" name="矩形 60">
              <a:extLst>
                <a:ext uri="{FF2B5EF4-FFF2-40B4-BE49-F238E27FC236}">
                  <a16:creationId xmlns:a16="http://schemas.microsoft.com/office/drawing/2014/main" id="{892E0757-0B39-8A64-4B6E-AF041B893BF7}"/>
                </a:ext>
              </a:extLst>
            </p:cNvPr>
            <p:cNvSpPr/>
            <p:nvPr/>
          </p:nvSpPr>
          <p:spPr>
            <a:xfrm>
              <a:off x="-1675683" y="-2280564"/>
              <a:ext cx="904240" cy="27940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zh-CN" altLang="en-US" sz="1200" b="1">
                  <a:solidFill>
                    <a:srgbClr val="3CC7F5"/>
                  </a:solidFill>
                </a:rPr>
                <a:t>多人复核</a:t>
              </a:r>
            </a:p>
          </p:txBody>
        </p:sp>
      </p:grpSp>
      <p:grpSp>
        <p:nvGrpSpPr>
          <p:cNvPr id="62" name="组合 61">
            <a:extLst>
              <a:ext uri="{FF2B5EF4-FFF2-40B4-BE49-F238E27FC236}">
                <a16:creationId xmlns:a16="http://schemas.microsoft.com/office/drawing/2014/main" id="{B014504F-C6C6-B453-8133-7F4BBA059D16}"/>
              </a:ext>
            </a:extLst>
          </p:cNvPr>
          <p:cNvGrpSpPr/>
          <p:nvPr/>
        </p:nvGrpSpPr>
        <p:grpSpPr>
          <a:xfrm>
            <a:off x="8446206" y="2013477"/>
            <a:ext cx="2078919" cy="279401"/>
            <a:chOff x="-1727201" y="-2280564"/>
            <a:chExt cx="2078919" cy="279401"/>
          </a:xfrm>
        </p:grpSpPr>
        <p:sp>
          <p:nvSpPr>
            <p:cNvPr id="63" name="矩形: 圆角 8【石萌】">
              <a:extLst>
                <a:ext uri="{FF2B5EF4-FFF2-40B4-BE49-F238E27FC236}">
                  <a16:creationId xmlns:a16="http://schemas.microsoft.com/office/drawing/2014/main" id="{7FF8C6EF-69A0-1C12-12CC-F71D73415072}"/>
                </a:ext>
              </a:extLst>
            </p:cNvPr>
            <p:cNvSpPr/>
            <p:nvPr/>
          </p:nvSpPr>
          <p:spPr>
            <a:xfrm>
              <a:off x="-1727201" y="-2260242"/>
              <a:ext cx="1955797" cy="233322"/>
            </a:xfrm>
            <a:prstGeom prst="roundRect">
              <a:avLst>
                <a:gd name="adj" fmla="val 16881"/>
              </a:avLst>
            </a:prstGeom>
            <a:solidFill>
              <a:srgbClr val="00152B"/>
            </a:solidFill>
            <a:ln w="6350">
              <a:solidFill>
                <a:srgbClr val="06556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/>
                <a:cs typeface="+mn-cs"/>
              </a:endParaRPr>
            </a:p>
          </p:txBody>
        </p:sp>
        <p:sp>
          <p:nvSpPr>
            <p:cNvPr id="64" name="矩形 63">
              <a:extLst>
                <a:ext uri="{FF2B5EF4-FFF2-40B4-BE49-F238E27FC236}">
                  <a16:creationId xmlns:a16="http://schemas.microsoft.com/office/drawing/2014/main" id="{FD90BBA4-8163-37EB-DE6F-3E53F69233A1}"/>
                </a:ext>
              </a:extLst>
            </p:cNvPr>
            <p:cNvSpPr/>
            <p:nvPr/>
          </p:nvSpPr>
          <p:spPr>
            <a:xfrm>
              <a:off x="-1723309" y="-2280564"/>
              <a:ext cx="2075027" cy="27940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zh-CN" sz="1200" b="1">
                  <a:solidFill>
                    <a:srgbClr val="3CC7F5"/>
                  </a:solidFill>
                </a:rPr>
                <a:t>WeACT/</a:t>
              </a:r>
              <a:r>
                <a:rPr lang="zh-CN" altLang="en-US" sz="1200" b="1">
                  <a:solidFill>
                    <a:srgbClr val="3CC7F5"/>
                  </a:solidFill>
                </a:rPr>
                <a:t>飞书嵌入式服务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7491941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>
      <p:transition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11-复制的不是页面是专业能力">
            <a:extLst>
              <a:ext uri="{FF2B5EF4-FFF2-40B4-BE49-F238E27FC236}">
                <a16:creationId xmlns:a16="http://schemas.microsoft.com/office/drawing/2014/main" id="{291C4C85-096B-3CFA-E5D2-943CEF144E2C}"/>
              </a:ext>
            </a:extLst>
          </p:cNvPr>
          <p:cNvPicPr>
            <a:picLocks noGrp="1" noChangeAspect="1"/>
          </p:cNvPicPr>
          <p:nvPr isPhoto="1"/>
        </p:nvPicPr>
        <p:blipFill>
          <a:blip r:embed="rId3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75" y="0"/>
            <a:ext cx="1218565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94228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>
      <p:transition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13-三个走出第一公里">
            <a:extLst>
              <a:ext uri="{FF2B5EF4-FFF2-40B4-BE49-F238E27FC236}">
                <a16:creationId xmlns:a16="http://schemas.microsoft.com/office/drawing/2014/main" id="{071FFD40-F885-4892-E1FA-DF4CFAFF2732}"/>
              </a:ext>
            </a:extLst>
          </p:cNvPr>
          <p:cNvPicPr>
            <a:picLocks noGrp="1" noChangeAspect="1"/>
          </p:cNvPicPr>
          <p:nvPr isPhoto="1"/>
        </p:nvPicPr>
        <p:blipFill>
          <a:blip r:embed="rId3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75" y="0"/>
            <a:ext cx="12185650" cy="6858000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3722F9CF-54BE-3CDE-ACB5-B18FF63B89D9}"/>
              </a:ext>
            </a:extLst>
          </p:cNvPr>
          <p:cNvSpPr/>
          <p:nvPr/>
        </p:nvSpPr>
        <p:spPr>
          <a:xfrm>
            <a:off x="2199640" y="243840"/>
            <a:ext cx="7792720" cy="894080"/>
          </a:xfrm>
          <a:prstGeom prst="rect">
            <a:avLst/>
          </a:prstGeom>
          <a:solidFill>
            <a:srgbClr val="010D2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3540431-9985-0E88-0D29-AF6386492E02}"/>
              </a:ext>
            </a:extLst>
          </p:cNvPr>
          <p:cNvSpPr/>
          <p:nvPr/>
        </p:nvSpPr>
        <p:spPr>
          <a:xfrm>
            <a:off x="299720" y="243840"/>
            <a:ext cx="8976360" cy="8026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3200" b="1">
                <a:solidFill>
                  <a:schemeClr val="bg1"/>
                </a:solidFill>
              </a:rPr>
              <a:t> 第一项工作 </a:t>
            </a:r>
            <a:r>
              <a:rPr lang="en-US" altLang="zh-CN" sz="3200" b="1">
                <a:solidFill>
                  <a:schemeClr val="bg1"/>
                </a:solidFill>
              </a:rPr>
              <a:t>, </a:t>
            </a:r>
            <a:r>
              <a:rPr lang="zh-CN" altLang="en-US" sz="3200" b="1">
                <a:solidFill>
                  <a:schemeClr val="bg1"/>
                </a:solidFill>
              </a:rPr>
              <a:t>已经完成      </a:t>
            </a:r>
            <a:r>
              <a:rPr lang="zh-CN" altLang="en-US" sz="3200" b="1">
                <a:solidFill>
                  <a:srgbClr val="3CC7F5"/>
                </a:solidFill>
              </a:rPr>
              <a:t>第一公里 </a:t>
            </a:r>
            <a:r>
              <a:rPr lang="en-US" altLang="zh-CN" sz="3200" b="1">
                <a:solidFill>
                  <a:srgbClr val="3CC7F5"/>
                </a:solidFill>
              </a:rPr>
              <a:t>, </a:t>
            </a:r>
            <a:r>
              <a:rPr lang="zh-CN" altLang="en-US" sz="3200" b="1">
                <a:solidFill>
                  <a:srgbClr val="3CC7F5"/>
                </a:solidFill>
              </a:rPr>
              <a:t>刚刚开始</a:t>
            </a: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81BFF84B-81B7-4574-B070-BE750EBAB382}"/>
              </a:ext>
            </a:extLst>
          </p:cNvPr>
          <p:cNvCxnSpPr>
            <a:cxnSpLocks/>
          </p:cNvCxnSpPr>
          <p:nvPr/>
        </p:nvCxnSpPr>
        <p:spPr>
          <a:xfrm flipH="1">
            <a:off x="4859020" y="536326"/>
            <a:ext cx="82297" cy="269240"/>
          </a:xfrm>
          <a:prstGeom prst="line">
            <a:avLst/>
          </a:prstGeom>
          <a:ln w="38100">
            <a:solidFill>
              <a:srgbClr val="3CC7F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矩形 9">
            <a:extLst>
              <a:ext uri="{FF2B5EF4-FFF2-40B4-BE49-F238E27FC236}">
                <a16:creationId xmlns:a16="http://schemas.microsoft.com/office/drawing/2014/main" id="{2561011E-4B94-56F5-92BB-C97005F71530}"/>
              </a:ext>
            </a:extLst>
          </p:cNvPr>
          <p:cNvSpPr/>
          <p:nvPr/>
        </p:nvSpPr>
        <p:spPr>
          <a:xfrm>
            <a:off x="1943100" y="5648959"/>
            <a:ext cx="8305800" cy="501457"/>
          </a:xfrm>
          <a:prstGeom prst="rect">
            <a:avLst/>
          </a:prstGeom>
          <a:solidFill>
            <a:srgbClr val="010D2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61F2932A-2E68-F947-A6A8-8C9CD94E010F}"/>
              </a:ext>
            </a:extLst>
          </p:cNvPr>
          <p:cNvSpPr/>
          <p:nvPr/>
        </p:nvSpPr>
        <p:spPr>
          <a:xfrm>
            <a:off x="2880360" y="5498367"/>
            <a:ext cx="8976360" cy="8026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400" b="1">
                <a:solidFill>
                  <a:srgbClr val="3CC7F5"/>
                </a:solidFill>
              </a:rPr>
              <a:t>让 </a:t>
            </a:r>
            <a:r>
              <a:rPr lang="en-US" altLang="zh-CN" sz="2400" b="1">
                <a:solidFill>
                  <a:srgbClr val="3CC7F5"/>
                </a:solidFill>
              </a:rPr>
              <a:t>Ai </a:t>
            </a:r>
            <a:r>
              <a:rPr lang="zh-CN" altLang="en-US" sz="2400" b="1">
                <a:solidFill>
                  <a:srgbClr val="3CC7F5"/>
                </a:solidFill>
              </a:rPr>
              <a:t>在规则中上岗，让专业能力在组织中生长</a:t>
            </a:r>
          </a:p>
        </p:txBody>
      </p:sp>
    </p:spTree>
    <p:extLst>
      <p:ext uri="{BB962C8B-B14F-4D97-AF65-F5344CB8AC3E}">
        <p14:creationId xmlns:p14="http://schemas.microsoft.com/office/powerpoint/2010/main" val="18144417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>
      <p:transition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E9EC42-9217-BD99-8D6C-E542C74033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ocer搜索：半想象现实   http://chn.docer.com/works/?userid=199927538">
            <a:extLst>
              <a:ext uri="{FF2B5EF4-FFF2-40B4-BE49-F238E27FC236}">
                <a16:creationId xmlns:a16="http://schemas.microsoft.com/office/drawing/2014/main" id="{E1E3F260-18DF-D1C0-1352-3BF5C7D4157D}"/>
              </a:ext>
            </a:extLst>
          </p:cNvPr>
          <p:cNvSpPr txBox="1"/>
          <p:nvPr/>
        </p:nvSpPr>
        <p:spPr>
          <a:xfrm>
            <a:off x="0" y="0"/>
            <a:ext cx="12192000" cy="6857365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3600" b="1" dirty="0">
                <a:solidFill>
                  <a:schemeClr val="bg1"/>
                </a:solidFill>
                <a:cs typeface="+mn-ea"/>
                <a:sym typeface="+mn-lt"/>
              </a:rPr>
              <a:t>数字化让国家管网与众不同</a:t>
            </a:r>
          </a:p>
          <a:p>
            <a:pPr algn="ctr"/>
            <a:endParaRPr lang="en-US" altLang="zh-CN" sz="2000" b="1" dirty="0">
              <a:solidFill>
                <a:schemeClr val="bg1"/>
              </a:solidFill>
              <a:cs typeface="+mn-ea"/>
              <a:sym typeface="+mn-lt"/>
            </a:endParaRPr>
          </a:p>
          <a:p>
            <a:pPr algn="ctr"/>
            <a:r>
              <a:rPr lang="en-US" altLang="zh-CN" sz="2000" b="1" dirty="0">
                <a:solidFill>
                  <a:schemeClr val="bg1"/>
                </a:solidFill>
                <a:cs typeface="+mn-ea"/>
                <a:sym typeface="+mn-lt"/>
              </a:rPr>
              <a:t>Digital Transformation Makes PipeChina Unique</a:t>
            </a: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6EE14CEA-C100-1C31-421A-9B2E892603E0}"/>
              </a:ext>
            </a:extLst>
          </p:cNvPr>
          <p:cNvGrpSpPr>
            <a:grpSpLocks noChangeAspect="1"/>
          </p:cNvGrpSpPr>
          <p:nvPr/>
        </p:nvGrpSpPr>
        <p:grpSpPr>
          <a:xfrm>
            <a:off x="-218440" y="57785"/>
            <a:ext cx="2402840" cy="779780"/>
            <a:chOff x="136" y="363"/>
            <a:chExt cx="3784" cy="1228"/>
          </a:xfrm>
        </p:grpSpPr>
        <p:pic>
          <p:nvPicPr>
            <p:cNvPr id="6" name="图片 5">
              <a:extLst>
                <a:ext uri="{FF2B5EF4-FFF2-40B4-BE49-F238E27FC236}">
                  <a16:creationId xmlns:a16="http://schemas.microsoft.com/office/drawing/2014/main" id="{3158CFD8-607F-70FC-31A8-2084CD29E30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00" r="100"/>
            <a:stretch>
              <a:fillRect/>
            </a:stretch>
          </p:blipFill>
          <p:spPr>
            <a:xfrm>
              <a:off x="136" y="363"/>
              <a:ext cx="2172" cy="1198"/>
            </a:xfrm>
            <a:prstGeom prst="rect">
              <a:avLst/>
            </a:prstGeom>
          </p:spPr>
        </p:pic>
        <p:pic>
          <p:nvPicPr>
            <p:cNvPr id="7" name="图片 6">
              <a:extLst>
                <a:ext uri="{FF2B5EF4-FFF2-40B4-BE49-F238E27FC236}">
                  <a16:creationId xmlns:a16="http://schemas.microsoft.com/office/drawing/2014/main" id="{DE1EEB62-D040-E94A-B1EE-5544C8B456F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654" b="654"/>
            <a:stretch>
              <a:fillRect/>
            </a:stretch>
          </p:blipFill>
          <p:spPr>
            <a:xfrm>
              <a:off x="1752" y="541"/>
              <a:ext cx="2168" cy="105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098332993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Office 主题">
  <a:themeElements>
    <a:clrScheme name="自定义 4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2D0F8"/>
      </a:accent5>
      <a:accent6>
        <a:srgbClr val="40E0D0"/>
      </a:accent6>
      <a:hlink>
        <a:srgbClr val="0563C1"/>
      </a:hlink>
      <a:folHlink>
        <a:srgbClr val="954F72"/>
      </a:folHlink>
    </a:clrScheme>
    <a:fontScheme name="693e98a3-4beb-45db-b2c3-9837ba17cd7b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4818</TotalTime>
  <Words>2680</Words>
  <Application>Microsoft Office PowerPoint</Application>
  <PresentationFormat>宽屏</PresentationFormat>
  <Paragraphs>87</Paragraphs>
  <Slides>15</Slides>
  <Notes>13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19" baseType="lpstr">
      <vt:lpstr>微软雅黑</vt:lpstr>
      <vt:lpstr>Arial</vt:lpstr>
      <vt:lpstr>Calibri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airbookpro</dc:creator>
  <cp:lastModifiedBy>萌 石</cp:lastModifiedBy>
  <cp:revision>71</cp:revision>
  <cp:lastPrinted>2026-08-17T01:56:42Z</cp:lastPrinted>
  <dcterms:created xsi:type="dcterms:W3CDTF">2026-06-09T11:21:33Z</dcterms:created>
  <dcterms:modified xsi:type="dcterms:W3CDTF">2026-10-26T06:40:31Z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2052-12.9.0.23262</vt:lpwstr>
  </property>
  <property fmtid="{D5CDD505-2E9C-101B-9397-08002B2CF9AE}" pid="3" name="KSOTemplateUUID">
    <vt:lpwstr>v1.0_mb_XVb3N1UkD7fPUFnq8IGCug==</vt:lpwstr>
  </property>
  <property fmtid="{D5CDD505-2E9C-101B-9397-08002B2CF9AE}" pid="4" name="ICV">
    <vt:lpwstr>4DE903BD8B9CC2476B7BB36941CD1D7A_43</vt:lpwstr>
  </property>
</Properties>
</file>